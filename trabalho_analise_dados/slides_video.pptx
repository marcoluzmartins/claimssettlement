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9B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9B1C2E"/>
                </a:solidFill>
                <a:latin typeface="Calibri"/>
              </a:rPr>
              <a:t>Avaliação crítica do Relatório R5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555555"/>
                </a:solidFill>
                <a:latin typeface="Calibri"/>
              </a:rPr>
              <a:t>Análise e Segmentação de Clientes · Consultor independente · [Nome] · [N.º]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2103120"/>
            <a:ext cx="11064240" cy="2377440"/>
          </a:xfrm>
          <a:prstGeom prst="rect">
            <a:avLst/>
          </a:prstGeom>
          <a:solidFill>
            <a:srgbClr val="F5F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2402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555555"/>
                </a:solidFill>
                <a:latin typeface="Calibri"/>
              </a:rPr>
              <a:t>Questão central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9748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0">
                <a:solidFill>
                  <a:srgbClr val="1A1A1A"/>
                </a:solidFill>
                <a:latin typeface="Calibri"/>
              </a:rPr>
              <a:t>Os resultados constituem uma base adequada para segmentar clientes e classificar novos clientes?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6576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9B1C2E"/>
                </a:solidFill>
                <a:latin typeface="Calibri"/>
              </a:rPr>
              <a:t>Resposta: ainda não. Bom ponto de partida, mas faltam validação, correções e a classificação de novos clientes.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9B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9B1C2E"/>
                </a:solidFill>
                <a:latin typeface="Calibri"/>
              </a:rPr>
              <a:t>Visão geral da avaliação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555555"/>
                </a:solidFill>
                <a:latin typeface="Calibri"/>
              </a:rPr>
              <a:t>Seis etapas avaliadas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828800"/>
          <a:ext cx="1069848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69280"/>
                <a:gridCol w="5029200"/>
              </a:tblGrid>
              <a:tr h="548640">
                <a:tc>
                  <a:txBody>
                    <a:bodyPr/>
                    <a:lstStyle/>
                    <a:p>
                      <a:r>
                        <a:rPr sz="2000">
                          <a:latin typeface="Calibri"/>
                        </a:rPr>
                        <a:t>Etapa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>
                          <a:latin typeface="Calibri"/>
                        </a:rPr>
                        <a:t>Avaliação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2000">
                          <a:latin typeface="Calibri"/>
                        </a:rPr>
                        <a:t>Dados e valores em falta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>
                          <a:latin typeface="Calibri"/>
                        </a:rPr>
                        <a:t>Parcialmente adequada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2000">
                          <a:latin typeface="Calibri"/>
                        </a:rPr>
                        <a:t>Análise bivariada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>
                          <a:latin typeface="Calibri"/>
                        </a:rPr>
                        <a:t>Parcialmente adequada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2000">
                          <a:latin typeface="Calibri"/>
                        </a:rPr>
                        <a:t>PCA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>
                          <a:latin typeface="Calibri"/>
                        </a:rPr>
                        <a:t>Adequada, com falhas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2000">
                          <a:latin typeface="Calibri"/>
                        </a:rPr>
                        <a:t>K-means e escolha de 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>
                          <a:latin typeface="Calibri"/>
                        </a:rPr>
                        <a:t>Insuficiente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2000">
                          <a:latin typeface="Calibri"/>
                        </a:rPr>
                        <a:t>Ligação ao abandono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>
                          <a:latin typeface="Calibri"/>
                        </a:rPr>
                        <a:t>Adequada, com ressalvas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2000">
                          <a:latin typeface="Calibri"/>
                        </a:rPr>
                        <a:t>Classificação de novos clientes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>
                          <a:latin typeface="Calibri"/>
                        </a:rPr>
                        <a:t>Não abordada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9B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9B1C2E"/>
                </a:solidFill>
                <a:latin typeface="Calibri"/>
              </a:rPr>
              <a:t>Dados e análise bivariada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>
                <a:solidFill>
                  <a:srgbClr val="1A1A1A"/>
                </a:solidFill>
                <a:latin typeface="Calibri"/>
              </a:rPr>
              <a:t>• Listwise (280/300) aceitável, mas MCAR não testado: os 20 excluídos têm ≈ 30% de abandono vs 15,7%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1A1A1A"/>
                </a:solidFill>
                <a:latin typeface="Calibri"/>
              </a:rPr>
              <a:t>• Outliers (rendimento e despesa a 3,7 DP) mencionados, mas não tratados; variáveis ordinais/contagens tratadas como contínuas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1A1A1A"/>
                </a:solidFill>
                <a:latin typeface="Calibri"/>
              </a:rPr>
              <a:t>• Pearson sobre variáveis assimétricas; «valor do cliente» = rendimento do cliente, não valor para a empresa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1A1A1A"/>
                </a:solidFill>
                <a:latin typeface="Calibri"/>
              </a:rPr>
              <a:t>• Tabela 5: V de Cramér da Região errado (0,039 → 0,067)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1A1A1A"/>
                </a:solidFill>
                <a:latin typeface="Calibri"/>
              </a:rPr>
              <a:t>• Método de pagamento: p = 0,065 não significativo, mas apresentado como «fator relevante»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9B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9B1C2E"/>
                </a:solidFill>
                <a:latin typeface="Calibri"/>
              </a:rPr>
              <a:t>PCA: decisão defensável, execução com falhas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>
                <a:solidFill>
                  <a:srgbClr val="1A1A1A"/>
                </a:solidFill>
                <a:latin typeface="Calibri"/>
              </a:rPr>
              <a:t>• KMO 0,823 e 2 componentes (Kaiser, 67%): aceitável; falta análise paralela e o scree plot não é mostrado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1A1A1A"/>
                </a:solidFill>
                <a:latin typeface="Calibri"/>
              </a:rPr>
              <a:t>• Valores próprios somam 9,033 (devia ser 9); percentagens somam 100,08%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1A1A1A"/>
                </a:solidFill>
                <a:latin typeface="Calibri"/>
              </a:rPr>
              <a:t>• «Loadings» da Tabela 7 são vetores próprios (norma 1); correlações reais: despesa-CP1 = 0,90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1A1A1A"/>
                </a:solidFill>
                <a:latin typeface="Calibri"/>
              </a:rPr>
              <a:t>• Leitura seletiva (satisfação omitida do CP1); rótulos «valor» e «modernização» são interpretações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1A1A1A"/>
                </a:solidFill>
                <a:latin typeface="Calibri"/>
              </a:rPr>
              <a:t>• A PCA não é usada na segmentação, só na visualização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9B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9B1C2E"/>
                </a:solidFill>
                <a:latin typeface="Calibri"/>
              </a:rPr>
              <a:t>K-means: o ponto mais frágil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555555"/>
                </a:solidFill>
                <a:latin typeface="Calibri"/>
              </a:rPr>
              <a:t>Silhuetas fracas e escolha de k pouco validada</a:t>
            </a:r>
          </a:p>
        </p:txBody>
      </p:sp>
      <p:pic>
        <p:nvPicPr>
          <p:cNvPr id="5" name="Picture 4" descr="fig2_silhueta_abando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45920"/>
            <a:ext cx="6949440" cy="275833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680960" y="1645920"/>
            <a:ext cx="42062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Afirmação errada: a padronização não protege de outliers (é linear)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k = 3 contra a silhueta máxima (k = 2); todas as silhuetas ≤ 0,35 (estrutura fraca)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Sem estabilidade, elbow, CH ou gap; k = 4 quase equivalente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Médias sem desvios; descrição circular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9B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9B1C2E"/>
                </a:solidFill>
                <a:latin typeface="Calibri"/>
              </a:rPr>
              <a:t>Figura 1 do R5: legenda inconsistente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555555"/>
                </a:solidFill>
                <a:latin typeface="Calibri"/>
              </a:rPr>
              <a:t>Cluster 3 (verde) está no lado de valor elevado, contra a Tabela 10</a:t>
            </a:r>
          </a:p>
        </p:txBody>
      </p:sp>
      <p:pic>
        <p:nvPicPr>
          <p:cNvPr id="5" name="Picture 4" descr="fig1_anota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554480"/>
            <a:ext cx="7710160" cy="5029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863840" y="1828800"/>
            <a:ext cx="4023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Proporções 22/48/30% confirmam rótulos 1 e 3 trocados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Risco: ações de retenção no segmento errado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Dois sub-grupos no cluster azul: k = 4?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9B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9B1C2E"/>
                </a:solidFill>
                <a:latin typeface="Calibri"/>
              </a:rPr>
              <a:t>Abandono e novos clientes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>
                <a:solidFill>
                  <a:srgbClr val="1A1A1A"/>
                </a:solidFill>
                <a:latin typeface="Calibri"/>
              </a:rPr>
              <a:t>• Resultado sólido: abandono 8,1% / 9,6% / 23,0%; χ² = 10,41; p = 0,0055; V = 0,193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1A1A1A"/>
                </a:solidFill>
                <a:latin typeface="Calibri"/>
              </a:rPr>
              <a:t>• Mas é associação: 77% do Cluster 3 não abandonou; sem AUC; sem ordem temporal; «demonstra» é demasiado forte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1A1A1A"/>
                </a:solidFill>
                <a:latin typeface="Calibri"/>
              </a:rPr>
              <a:t>• «Diferenças em categóricas por cluster»: sem tabela nem teste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1A1A1A"/>
                </a:solidFill>
                <a:latin typeface="Calibri"/>
              </a:rPr>
              <a:t>• Classificação de novos clientes: ausente (sem regra, classificador ou validação)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1A1A1A"/>
                </a:solidFill>
                <a:latin typeface="Calibri"/>
              </a:rPr>
              <a:t>• Variáveis de segmentação (antiguidade, visitas, satisfação…) não existem à entrada: novo cliente cai quase sempre no Cluster 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9B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9B1C2E"/>
                </a:solidFill>
                <a:latin typeface="Calibri"/>
              </a:rPr>
              <a:t>Recomendações à administração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>
                <a:solidFill>
                  <a:srgbClr val="1A1A1A"/>
                </a:solidFill>
                <a:latin typeface="Calibri"/>
              </a:rPr>
              <a:t>• Usar o R5 como hipótese de trabalho, não como regra operacional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1A1A1A"/>
                </a:solidFill>
                <a:latin typeface="Calibri"/>
              </a:rPr>
              <a:t>• Corrigir figura/tabela, afirmação sobre outliers, V de Cramér e valores próprios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1A1A1A"/>
                </a:solidFill>
                <a:latin typeface="Calibri"/>
              </a:rPr>
              <a:t>• Robustez: log/winsorização, PAM, k = 2/3/4, estabilidade (bootstrap), comparar com Perfil A/B/C, imputação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1A1A1A"/>
                </a:solidFill>
                <a:latin typeface="Calibri"/>
              </a:rPr>
              <a:t>• Modelo supervisionado para novos clientes (variáveis à entrada) + modelo de risco de abandono, com validação cruzada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1A1A1A"/>
                </a:solidFill>
                <a:latin typeface="Calibri"/>
              </a:rPr>
              <a:t>• Piloto de retenção com grupo de controlo; melhorar dados (dicionário, datas, valor real do cliente)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