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[0:00–0:45] Bom dia. Fui contratado como consultor independente para avaliar o relatório R5, em que um analista segmenta 300 clientes com PCA e K-means. A questão central é: estes resultados são uma base adequada para segmentar clientes e classificar novos clientes? A minha resposta é: não, por ora. Servem como hipótese de trabalho, mas há falhas metodológicas, inconsistências e uma lacuna importante: a classificação de novos clientes nunca é tratada.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[0:45–1:30] Avaliei o R5 segundo os três critérios do enunciado. Na adequação metodológica e na qualidade da interpretação a apreciação é parcial: os cálculos de base são coerentes, mas há um erro conceptual, uma figura inconsistente e interpretações mais fortes do que a evidência. Na validade das conclusões é insuficiente: das quatro conclusões que sustentam a decisão, só uma é suportada. Não reproduzi a análise; recalculei os números publicados e anexei as verificações.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[1:30–3:00] Na parte metodológica, quatro pontos. Primeiro, os valores em falta: o analista apagou 20 clientes, o que é aceitável com 6,7% de perdas, mas só se a falta for aleatória, e isso não foi testado. Pelas taxas de abandono por cluster, que dão 5, 8 e 31 abandonos, deduz-se que esses 20 clientes têm 6 abandonos, 30%, contra 15,7% nos restantes. Não é conclusivo, com p de 0,12, mas é um alerta. Segundo, variáveis ordinais e de contagem tratadas como contínuas, com Pearson sobre variáveis assimétricas. Terceiro, a padronização: o relatório diz que protege dos valores extremos. É falso. O z-score é linear, os extremos continuam a 3,7 desvios-padrão e o K-means continua sensível a eles. Quarto, o K-means pesa mais as quatro variáveis de valor, que estão correlacionadas, e não indica inicializações nem semente.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[3:00–4:00] A silhueta é máxima com dois clusters, 0,353, e o analista escolhe três, 0,325, por ser mais interpretável. É um critério legítimo e o analista foi transparente. Mas há um só índice, nenhuma análise de estabilidade e todas as silhuetas, entre 0,21 e 0,35, indicam estrutura fraca. Com quatro clusters o valor é praticamente igual, 0,319, e a figura do próprio relatório mostra quatro nuvens. Por isso «distintos» é demasiado forte para 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[4:00–5:15] Na qualidade da análise, encontrei cinco problemas verificáveis. O V de Cramér da Região está errado: a raiz de 1,364 sobre 300 dá 0,067 e não 0,039. Os valores próprios somam 9,033 em vez de 9. As loadings da Tabela 7 são vetores próprios, não correlações. O cluster 3 é descrito como mais velho mas tem 47,9 anos, igual ao cluster 1. E o mais grave: na figura do relatório, o cluster 3, a verde, está do lado direito da primeira componente, ou seja, rendimento e despesa elevados, mas a tabela atribui esse perfil ao cluster 1. As proporções de pontos, 22, 48 e 30 por cento, confirmam que as legendas 1 e 3 estão trocadas. Quem lesse a figura dirigia a retenção ao segmento errado.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[5:15–6:15] Há ainda interpretações que vão além da evidência. «Valor do cliente» é inferido do rendimento e da despesa, que não medem o valor para a empresa. Os clusters são descritos com as mesmas variáveis que os formaram: as diferenças são grandes por construção, e só se mostram médias, sem dispersão. O método de pagamento, com p de 0,065, não é significativo, mas o relatório diz que pode ser um fator relevante, enquanto a fidelização e o perfil, com p de 0,088 e 0,090, não recebem o mesmo tratamento. É uma hipótese a testar, não uma conclusão. E os rótulos dos componentes são leituras, e a interpretação é seletiva.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[6:15–7:30] Na validade das conclusões, analisei as quatro que sustentam a decisão. A existência de três segmentos distintos é só parcialmente suportada. A única suportada, como associação, é que o cluster 3 tem maior abandono, 23% contra 8 e 10 por cento, com p de 0,0055. Mas é associação, não previsão: 77% do cluster 3 não abandonou, não há AUC, os intervalos de confiança sobrepõem-se parcialmente e não se sabe quando foram medidas as variáveis. «Demonstra» devia ser «sugere». As outras duas, diferenças entre clusters em variáveis categóricas e o método de pagamento como fator de retenção, não têm suporte: não há tabelas nem testes, ou o teste não é significativo.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[7:30–8:20] Face aos três objetivos da empresa: conhecer o perfil dos clientes, em grande parte sim, com reservas. Identificar segmentos distintos, só parcialmente. E classificar novos clientes, não: o relatório não apresenta centróides nem parâmetros de padronização, nenhum classificador, nenhuma validação, e a eliminação de casos não serve para novos clientes. Além disso, as variáveis usadas, como antiguidade, visitas e reclamações, acumulam-se com o tempo e não existem à entrada: um cliente recém-chegado tenderia a parecer-se com o cluster 2 só por ser recente, o que é uma inferência minha. E com 50 abandonos a amostra é pequena.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[8:20–9:00] Recomendo à administração: não adotar o R5 como regra operacional; exigir as correções e análises de robustez, como transformar as variáveis, testar outros valores de k e a estabilidade; encomendar um modelo supervisionado para novos clientes, validado em dados não usados; e testar a retenção do cluster 3 num piloto com grupo de controlo. Em conclusão, o R5 descreve bem os clientes e mostra uma associação com o abandono, mas não é, na forma atual, uma base adequada. Precisa de correções, robustez e de um modelo preditivo.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83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83342"/>
                </a:solidFill>
                <a:latin typeface="Calibri"/>
              </a:rPr>
              <a:t>Avaliação crítica do relatório R5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A5A5E"/>
                </a:solidFill>
                <a:latin typeface="Calibri"/>
              </a:rPr>
              <a:t>Análise e segmentação de clientes · Marco Filipe Luz Martins · Análise de Dados · FEP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301752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A5A5E"/>
                </a:solidFill>
                <a:latin typeface="Calibri"/>
              </a:rPr>
              <a:t>Questão 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D1D1F"/>
                </a:solidFill>
                <a:latin typeface="Calibri"/>
              </a:rPr>
              <a:t>Os resultados e conclusões do analista constituem uma base adequada para apoiar a segmentação e a classificação de novos clientes?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83342"/>
                </a:solidFill>
                <a:latin typeface="Calibri"/>
              </a:rPr>
              <a:t>Resposta: não, por ora. Servem como hipótese de trabalho a validar.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83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83342"/>
                </a:solidFill>
                <a:latin typeface="Calibri"/>
              </a:rPr>
              <a:t>Como avaliei o R5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A5A5E"/>
                </a:solidFill>
                <a:latin typeface="Calibri"/>
              </a:rPr>
              <a:t>Três critérios do enunciado; verifiquei a coerência interna dos números, sem reproduzir a análise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737360"/>
                <a:gridCol w="5120640"/>
              </a:tblGrid>
              <a:tr h="777240">
                <a:tc>
                  <a:txBody>
                    <a:bodyPr/>
                    <a:lstStyle/>
                    <a:p>
                      <a:r>
                        <a:rPr sz="1800" b="1">
                          <a:latin typeface="Calibri"/>
                        </a:rPr>
                        <a:t>Critério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Calibri"/>
                        </a:rPr>
                        <a:t>Apreciação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Calibri"/>
                        </a:rPr>
                        <a:t>Em resumo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A. Adequação das opções metodológicas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Parcial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Escolhas razoáveis, sem verificar pressupostos nem robustez; uma justificação errada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B. Qualidade da análise e interpretação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Parcial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Cálculos coerentes; erros pontuais; figura inconsistente com a tabela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C. Validade das conclusões e recomendações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Insuficiente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1 suportada, 1 parcial, 2 sem suporte; falta a classificação de novos clientes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83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83342"/>
                </a:solidFill>
                <a:latin typeface="Calibri"/>
              </a:rPr>
              <a:t>Critério A: adequação metodológica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A5A5E"/>
                </a:solidFill>
                <a:latin typeface="Calibri"/>
              </a:rPr>
              <a:t>Opções razoáveis, mas com reservas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D1D1F"/>
                </a:solidFill>
                <a:latin typeface="Calibri"/>
              </a:rPr>
              <a:t>• Eliminação de 20 clientes (6,7%): só inócua se a falta for aleatória; 6 abandonos nesses 20 (30%) vs 15,7% (Fisher p ≈ 0,12: sinal, não prova)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D1D1F"/>
                </a:solidFill>
                <a:latin typeface="Calibri"/>
              </a:rPr>
              <a:t>• Ordinais e contagens tratadas como contínuas; Pearson em variáveis assimétricas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D1D1F"/>
                </a:solidFill>
                <a:latin typeface="Calibri"/>
              </a:rPr>
              <a:t>• Padronização «protege dos extremos»: errado. O z-score é linear; os extremos mantêm-se a 3,7 DP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D1D1F"/>
                </a:solidFill>
                <a:latin typeface="Calibri"/>
              </a:rPr>
              <a:t>• K-means: 4 variáveis de «valor» correlacionadas (r até 0,84) pesam mais; sem inicializações nem semente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83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83342"/>
                </a:solidFill>
                <a:latin typeface="Calibri"/>
              </a:rPr>
              <a:t>Escolha do número de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A5A5E"/>
                </a:solidFill>
                <a:latin typeface="Calibri"/>
              </a:rPr>
              <a:t>Silhueta máxima em k = 2; o analista escolheu k = 3</a:t>
            </a:r>
          </a:p>
        </p:txBody>
      </p:sp>
      <p:pic>
        <p:nvPicPr>
          <p:cNvPr id="5" name="Picture 4" descr="figA_silhu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5760720" cy="4866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D1D1F"/>
                </a:solidFill>
                <a:latin typeface="Calibri"/>
              </a:rPr>
              <a:t>• k = 3 contra o critério usado: legítimo, mas com um só índice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D1D1F"/>
                </a:solidFill>
                <a:latin typeface="Calibri"/>
              </a:rPr>
              <a:t>• Todas as silhuetas entre 0,21 e 0,35: estrutura fraca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D1D1F"/>
                </a:solidFill>
                <a:latin typeface="Calibri"/>
              </a:rPr>
              <a:t>• k = 4 (0,319) quase empata; a figura do R5 sugere quatro nuvens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D1D1F"/>
                </a:solidFill>
                <a:latin typeface="Calibri"/>
              </a:rPr>
              <a:t>• Falta estabilidade (bootstrap) e outros critérios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83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83342"/>
                </a:solidFill>
                <a:latin typeface="Calibri"/>
              </a:rPr>
              <a:t>Critério B: erros e inconsistências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A5A5E"/>
                </a:solidFill>
                <a:latin typeface="Calibri"/>
              </a:rPr>
              <a:t>Verificáveis por recálculo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53949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91840"/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Problema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</a:rPr>
                        <a:t>Evidência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V de Cramér da Região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√(1,364/300) = 0,067, não 0,039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Valores próprios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Somam 9,033 (devia ser 9); % somam 100,08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«Loadings»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São vetores próprios (norma ≈ 1)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Cluster 3 «mais velho»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</a:rPr>
                        <a:t>47,9 anos vs 47,2 no Cluster 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fig1_anot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737360"/>
            <a:ext cx="5669280" cy="36979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9377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E83342"/>
                </a:solidFill>
                <a:latin typeface="Calibri"/>
              </a:rPr>
              <a:t>Legenda da Figura 1 contradiz a Tabela 10: rótulos dos clusters 1 e 3 trocados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83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83342"/>
                </a:solidFill>
                <a:latin typeface="Calibri"/>
              </a:rPr>
              <a:t>Interpretações que vão além da evidência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>
                <a:solidFill>
                  <a:srgbClr val="1D1D1F"/>
                </a:solidFill>
                <a:latin typeface="Calibri"/>
              </a:rPr>
              <a:t>• «Valor do cliente»: rendimento e despesa não medem o valor para a empresa; é uma inferência</a:t>
            </a:r>
          </a:p>
          <a:p>
            <a:pPr>
              <a:spcAft>
                <a:spcPts val="1200"/>
              </a:spcAft>
            </a:pPr>
            <a:r>
              <a:rPr sz="2300">
                <a:solidFill>
                  <a:srgbClr val="1D1D1F"/>
                </a:solidFill>
                <a:latin typeface="Calibri"/>
              </a:rPr>
              <a:t>• Circularidade: clusters descritos com as variáveis que os definiram; só médias, sem dispersão</a:t>
            </a:r>
          </a:p>
          <a:p>
            <a:pPr>
              <a:spcAft>
                <a:spcPts val="1200"/>
              </a:spcAft>
            </a:pPr>
            <a:r>
              <a:rPr sz="2300">
                <a:solidFill>
                  <a:srgbClr val="1D1D1F"/>
                </a:solidFill>
                <a:latin typeface="Calibri"/>
              </a:rPr>
              <a:t>• Método de pagamento: p = 0,065 não é significativo, mas é apresentado como «fator relevante»; fidelização (0,088) e perfil (0,090) ignorados</a:t>
            </a:r>
          </a:p>
          <a:p>
            <a:pPr>
              <a:spcAft>
                <a:spcPts val="1200"/>
              </a:spcAft>
            </a:pPr>
            <a:r>
              <a:rPr sz="2300">
                <a:solidFill>
                  <a:srgbClr val="1D1D1F"/>
                </a:solidFill>
                <a:latin typeface="Calibri"/>
              </a:rPr>
              <a:t>• Rótulos «valor» (CP1) e «modernização» (CP2): leituras, com interpretação seletiva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83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83342"/>
                </a:solidFill>
                <a:latin typeface="Calibri"/>
              </a:rPr>
              <a:t>Critério C: validade das conclusões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A5A5E"/>
                </a:solidFill>
                <a:latin typeface="Calibri"/>
              </a:rPr>
              <a:t>Das quatro conclusões que sustentam a decisão, uma é suportada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658368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011680"/>
              </a:tblGrid>
              <a:tr h="685800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Conclusão do 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Suportada?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Existem 3 segmentos distintos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Parcialmente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O Cluster 3 tem maior abandono (23,0% vs 8,1% e 9,6%)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Sim, como associação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Diferenças entre clusters em grupo etário, plano e pagamento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Sem suporte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Método de pagamento: fator de retenção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Sem suporte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figA_aband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37360"/>
            <a:ext cx="4480560" cy="33544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525780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83342"/>
                </a:solidFill>
                <a:latin typeface="Calibri"/>
              </a:rPr>
              <a:t>Associação ≠ previsão: 77% do Cluster 3 não abandonou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83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83342"/>
                </a:solidFill>
                <a:latin typeface="Calibri"/>
              </a:rPr>
              <a:t>Os resultados respondem ao problema da empresa?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011680"/>
                <a:gridCol w="5212080"/>
              </a:tblGrid>
              <a:tr h="914400">
                <a:tc>
                  <a:txBody>
                    <a:bodyPr/>
                    <a:lstStyle/>
                    <a:p>
                      <a:r>
                        <a:rPr sz="1800" b="1">
                          <a:latin typeface="Calibri"/>
                        </a:rPr>
                        <a:t>Objetivo da empresa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Calibri"/>
                        </a:rPr>
                        <a:t>Cumpre?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Calibri"/>
                        </a:rPr>
                        <a:t>Porquê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Compreender o perfil dos 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Em grande parte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Descrição clara, com reservas (dados em falta, extremos)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Identificar segmentos distintos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Não totalmente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Estrutura fraca; k e extremos por validar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Sistema para classificar novos 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Calibri"/>
                        </a:rPr>
                        <a:t>Sem regra de atribuição, classificador ou validação; variáveis não existem à entrada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83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83342"/>
                </a:solidFill>
                <a:latin typeface="Calibri"/>
              </a:rPr>
              <a:t>Recomendações e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D1D1F"/>
                </a:solidFill>
                <a:latin typeface="Calibri"/>
              </a:rPr>
              <a:t>• Não adotar o R5 como regra operacional: usá-lo como hipótese de trabalho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D1D1F"/>
                </a:solidFill>
                <a:latin typeface="Calibri"/>
              </a:rPr>
              <a:t>• Exigir correções (Fig. 1, outliers, V da Região, valores próprios) e análises de robustez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D1D1F"/>
                </a:solidFill>
                <a:latin typeface="Calibri"/>
              </a:rPr>
              <a:t>• Encomendar um modelo para novos clientes, validado em dados não usados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D1D1F"/>
                </a:solidFill>
                <a:latin typeface="Calibri"/>
              </a:rPr>
              <a:t>• Testar a retenção do Cluster 3 num piloto com grupo de controlo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83342"/>
                </a:solidFill>
                <a:latin typeface="Calibri"/>
              </a:rPr>
              <a:t>Conclusão: bom ponto de partida, mas ainda não uma base adequada. Precisa de correções, robustez e de um modelo preditivo.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