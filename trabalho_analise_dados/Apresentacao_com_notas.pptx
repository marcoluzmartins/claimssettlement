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256" r:id="rId5"/>
    <p:sldId id="259" r:id="rId6"/>
    <p:sldId id="257" r:id="rId7"/>
    <p:sldId id="260" r:id="rId8"/>
    <p:sldId id="263" r:id="rId9"/>
    <p:sldId id="262" r:id="rId10"/>
    <p:sldId id="261" r:id="rId11"/>
    <p:sldId id="264" r:id="rId12"/>
    <p:sldId id="265" r:id="rId13"/>
    <p:sldId id="266" r:id="rId14"/>
    <p:sldId id="258" r:id="rId15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33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674" autoAdjust="0"/>
    <p:restoredTop sz="94658" autoAdjust="0"/>
  </p:normalViewPr>
  <p:slideViewPr>
    <p:cSldViewPr>
      <p:cViewPr varScale="1">
        <p:scale>
          <a:sx n="66" d="100"/>
          <a:sy n="66" d="100"/>
        </p:scale>
        <p:origin x="66" y="92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 showGuides="1">
      <p:cViewPr varScale="1">
        <p:scale>
          <a:sx n="115" d="100"/>
          <a:sy n="115" d="100"/>
        </p:scale>
        <p:origin x="130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notesMaster" Target="notesMasters/notesMaster1.xml"/><Relationship Id="rId17" Type="http://schemas.openxmlformats.org/officeDocument/2006/relationships/handoutMaster" Target="handoutMasters/handout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a Duarte" userId="1b8f0bf2-7da3-4d42-9b13-5bebf928d8a1" providerId="ADAL" clId="{9CF0B78A-3480-4090-8B4F-8F1EDF44DB83}"/>
    <pc:docChg chg="modSld">
      <pc:chgData name="Ana Duarte" userId="1b8f0bf2-7da3-4d42-9b13-5bebf928d8a1" providerId="ADAL" clId="{9CF0B78A-3480-4090-8B4F-8F1EDF44DB83}" dt="2024-06-06T13:02:32.062" v="1" actId="14100"/>
      <pc:docMkLst>
        <pc:docMk/>
      </pc:docMkLst>
      <pc:sldChg chg="modSp">
        <pc:chgData name="Ana Duarte" userId="1b8f0bf2-7da3-4d42-9b13-5bebf928d8a1" providerId="ADAL" clId="{9CF0B78A-3480-4090-8B4F-8F1EDF44DB83}" dt="2024-06-06T13:02:32.062" v="1" actId="14100"/>
        <pc:sldMkLst>
          <pc:docMk/>
          <pc:sldMk cId="0" sldId="258"/>
        </pc:sldMkLst>
        <pc:spChg chg="mod">
          <ac:chgData name="Ana Duarte" userId="1b8f0bf2-7da3-4d42-9b13-5bebf928d8a1" providerId="ADAL" clId="{9CF0B78A-3480-4090-8B4F-8F1EDF44DB83}" dt="2024-06-06T13:02:32.062" v="1" actId="14100"/>
          <ac:spMkLst>
            <pc:docMk/>
            <pc:sldMk cId="0" sldId="258"/>
            <ac:spMk id="2" creationId="{00000000-0000-0000-0000-000000000000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>
            <a:extLst>
              <a:ext uri="{FF2B5EF4-FFF2-40B4-BE49-F238E27FC236}">
                <a16:creationId xmlns:a16="http://schemas.microsoft.com/office/drawing/2014/main" id="{4A7D07B4-7A0E-5096-BA3A-BE1FC68BB71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9EA732F8-3118-EE51-BDEE-45DE791B351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2878BC-BF87-4E64-BDED-55A5F7E34779}" type="datetimeFigureOut">
              <a:rPr lang="pt-PT" smtClean="0"/>
              <a:t>24/10/2026</a:t>
            </a:fld>
            <a:endParaRPr lang="pt-PT"/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F53625E0-2773-B125-75EF-9E07DEE9C66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08115D31-C1F9-964E-10B0-7BD9D8F8A5F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F9AFCD-B41C-4731-AB76-B42820B987D9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4360293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2049CE-A2EF-4075-BBBA-6EC8B274D86F}" type="datetimeFigureOut">
              <a:rPr lang="pt-PT" smtClean="0"/>
              <a:t>24/10/2026</a:t>
            </a:fld>
            <a:endParaRPr lang="pt-PT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AC4A6D-074B-4CF3-AFCB-0E69CF5C9C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96126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9BDF7-414D-841A-7DAA-B87C3D4E2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B3ADB3CC-8ED2-2CC0-1456-D51AF005BC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F1F26FDB-3C9C-7169-B80C-41CBB928FE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[0:15–1:00] Vamos começar pelo problema. A empresa quer conhecer melhor os clientes, perceber que grupos existem e ter uma forma de classificar os clientes novos. Antes de usar o trabalho do analista, pediu uma opinião independente. E a pergunta é simples: este relatório dá uma base adequada para segmentar e para classificar novos clientes? Digo já a minha resposta: ainda não. É um bom ponto de partida, mas é só isso, uma hipótese de trabalho que precisa de ser validada.</a:t>
            </a:r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8C6E277D-8569-478E-B40F-B0E28547F2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C4A6D-074B-4CF3-AFCB-0E69CF5C9CFF}" type="slidenum">
              <a:rPr lang="pt-PT" smtClean="0"/>
              <a:t>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748072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[1:00–1:50] Para chegar a esta resposta, olhei para o relatório segundo os três critérios do enunciado. Na parte metodológica e na qualidade da análise, a apreciação é parcial. As escolhas são razoáveis e as contas de base estão certas, mas encontrei um erro de conceito, uma figura que não bate com a tabela e algumas interpretações que vão mais longe do que os dados permitem. Nas conclusões, a apreciação é insuficiente: das quatro que sustentam a decisão, só uma está realmente suportada, e falta tratar a classificação de novos clientes. Não repeti a análise: recalculei os números publicados, e isso está no anexo.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C4A6D-074B-4CF3-AFCB-0E69CF5C9CFF}" type="slidenum">
              <a:rPr lang="pt-PT" smtClean="0"/>
              <a:t>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27545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[0:00–0:15] Bom dia. Eu sou o Marco Martins e vou apresentar a avaliação que fiz ao relatório R5, de análise e segmentação de clientes, no papel de consultor independente.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[1:50–3:15] Na parte metodológica, quero destacar quatro coisas. A primeira são os valores em falta. O analista tirou 20 clientes da análise. Com tão poucos, é aceitável, mas só se a falta de dados for ao acaso, e isso ninguém verificou. E há um sinal de alerta: pelas taxas de abandono que o relatório dá, percebe-se que nesses 20 clientes houve 6 abandonos, ou seja, 30%, contra 15,7% nos outros. Não prova nada, pode ser acaso, mas devia ter sido investigado. A segunda é o erro mais claro. O relatório diz que padronizar as variáveis protege o K-means dos valores extremos. Isso não é verdade. Padronizar é só mudar a escala, é como passar de metros para centímetros: o cliente com o rendimento mais alto continua a ser o mais alto, e continua a puxar os grupos. E a terceira: quatro variáveis ligadas ao valor estão muito correlacionadas e acabam por pesar a dobrar, e o relatório não diz que sementes usou, por isso ninguém consegue repetir os resultados.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[3:15–4:10] Passemos à escolha do número de grupos. Olhando para o gráfico, a silhueta é mais alta com dois grupos, e o analista escolheu três, porque lhe pareceram mais fáceis de interpretar. Não é uma decisão errada, e o analista foi transparente. O problema é que só usou este critério, e não testou se os grupos se mantêm estáveis. E repare-se: todos os valores estão entre 0,21 e 0,35, o que, segundo a literatura, quer dizer estrutura fraca. Com quatro grupos o resultado é quase igual, e a própria figura do relatório parece mostrar quatro nuvens. Por isso, dizer que os segmentos são distintos é forte demais.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[4:10–5:20] Na qualidade da análise, encontrei erros que se confirmam com uma simples conta. O V de Cramér da região devia ser 0,067, e não 0,039. Os valores próprios somam 9,033, quando tinham de somar 9. O que o relatório chama de loadings são, na verdade, vetores próprios. E o terceiro grupo é dado como mais velho, mas tem a mesma idade do primeiro. Mas o que mais me preocupou foi a figura. Vejam: o grupo a verde está do lado direito, onde ficam os clientes com mais rendimento, mais despesa e mais visitas. Só que, na tabela, esse perfil pertence ao Cluster 1, e não ao 3. Pela proporção de pontos de cada cor, cerca de 22%, 48% e 30%, tudo indica que as legendas do 1 e do 3 estão trocadas, na figura ou na tabela. E isto importa: quem lesse a figura podia mandar as ações de retenção para o grupo errado.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[5:20–6:15] Há ainda algumas interpretações que dizem mais do que os dados mostram. Por exemplo, chama-se valor do cliente ao rendimento e à despesa. Mas o rendimento de um cliente não é o valor que ele tem para a empresa, isso seria receita ou margem. Depois, os grupos são descritos com as variáveis que os criaram, por isso é natural que sejam diferentes. E o método de pagamento: o resultado não é significativo, com p de 0,065, mas o relatório sugere que pode ser um fator importante para a retenção, enquanto a fidelização e o perfil, com valores quase iguais, nem são mencionados. Para mim, isso é uma pista para investigar, não uma conclusão.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[6:15–7:25] Vamos então às conclusões. Olhei para as quatro que sustentam a decisão. A existência de três segmentos distintos fica só parcialmente suportada, pelas razões que vimos. A única que se confirma é que o terceiro grupo abandona mais: 23%, contra cerca de 8 e 10%. Refiz o teste e confere. Mas atenção, isto é uma associação, não uma previsão. Quase 8 em cada 10 clientes desse grupo não abandonou. E os intervalos de confiança, que se veem no gráfico, sobrepõem-se um pouco. Além disso, não sabemos quando foram medidas as variáveis, e podem já refletir o abandono. Por isso, em vez de demonstra, o relatório devia dizer sugere. As outras duas conclusões, as diferenças entre grupos nas variáveis categóricas e o papel do método de pagamento, não têm suporte nos resultados.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[7:25–8:15] Então, voltando à empresa, o que é que o relatório resolve? Perceber o perfil dos clientes: em grande parte, sim, com as reservas que já referi. Identificar segmentos distintos: só em parte. E classificar novos clientes: não. O relatório não deixa uma regra para atribuir um cliente a um grupo, não tem nenhum modelo, não testa nada em dados novos, e apagar clientes com dados em falta não é opção quando chega um cliente novo. E há uma questão de fundo: os grupos foram feitos com informação que só existe passado algum tempo, como a antiguidade ou as visitas. Um cliente que acabou de chegar ainda não a tem, e tenderia a parecer-se com o grupo dos mais recentes só por isso. Isto é um raciocínio meu, não um cálculo.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[8:15–8:50] Em resumo, o que recomendo à administração? Que não use o relatório como regra, mas como ponto de partida. Que peça as correções e uma análise de robustez. Que encomende um modelo para classificar clientes novos, testado em dados que não serviram para o construir. E que teste a retenção do terceiro grupo num piloto, com grupo de controlo. A minha conclusão é esta: o R5 descreve bem os clientes e identifica uma associação interessante com o abandono, mas, tal como está, não é uma base suficiente para decidir.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[8:50–9:00] Obrigado pela atenção. Fico disponível para as vossas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hyperlink" Target="mailto:FORMACAO.EXECUTIVA@FEP.UP.PT" TargetMode="External"/><Relationship Id="rId5" Type="http://schemas.openxmlformats.org/officeDocument/2006/relationships/hyperlink" Target="http://WWW.FEP.UP.PT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0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6172200"/>
            <a:ext cx="12192000" cy="685800"/>
          </a:xfrm>
          <a:custGeom>
            <a:avLst/>
            <a:gdLst/>
            <a:ahLst/>
            <a:cxnLst/>
            <a:rect l="l" t="t" r="r" b="b"/>
            <a:pathLst>
              <a:path w="8915400" h="685800">
                <a:moveTo>
                  <a:pt x="8915400" y="0"/>
                </a:moveTo>
                <a:lnTo>
                  <a:pt x="0" y="0"/>
                </a:lnTo>
                <a:lnTo>
                  <a:pt x="0" y="685800"/>
                </a:lnTo>
                <a:lnTo>
                  <a:pt x="8915400" y="685800"/>
                </a:lnTo>
                <a:lnTo>
                  <a:pt x="8915400" y="0"/>
                </a:lnTo>
                <a:close/>
              </a:path>
            </a:pathLst>
          </a:custGeom>
          <a:solidFill>
            <a:srgbClr val="EF333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pic>
        <p:nvPicPr>
          <p:cNvPr id="5" name="Picture 4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A395FB41-EAF7-2707-2532-0FDEF517D02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6244001"/>
            <a:ext cx="2514600" cy="559360"/>
          </a:xfrm>
          <a:prstGeom prst="rect">
            <a:avLst/>
          </a:prstGeom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384" userDrawn="1">
          <p15:clr>
            <a:srgbClr val="FBAE40"/>
          </p15:clr>
        </p15:guide>
        <p15:guide id="4" pos="729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10/24/2026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g object 16">
            <a:extLst>
              <a:ext uri="{FF2B5EF4-FFF2-40B4-BE49-F238E27FC236}">
                <a16:creationId xmlns:a16="http://schemas.microsoft.com/office/drawing/2014/main" id="{0B52C02E-427D-17E2-8E32-C5A34EB7365D}"/>
              </a:ext>
            </a:extLst>
          </p:cNvPr>
          <p:cNvSpPr/>
          <p:nvPr userDrawn="1"/>
        </p:nvSpPr>
        <p:spPr>
          <a:xfrm>
            <a:off x="0" y="0"/>
            <a:ext cx="7567943" cy="6858000"/>
          </a:xfrm>
          <a:custGeom>
            <a:avLst/>
            <a:gdLst/>
            <a:ahLst/>
            <a:cxnLst/>
            <a:rect l="l" t="t" r="r" b="b"/>
            <a:pathLst>
              <a:path w="8915400" h="6858000">
                <a:moveTo>
                  <a:pt x="8915400" y="0"/>
                </a:moveTo>
                <a:lnTo>
                  <a:pt x="0" y="0"/>
                </a:lnTo>
                <a:lnTo>
                  <a:pt x="0" y="6858000"/>
                </a:lnTo>
                <a:lnTo>
                  <a:pt x="8915400" y="6858000"/>
                </a:lnTo>
                <a:lnTo>
                  <a:pt x="8915400" y="0"/>
                </a:lnTo>
                <a:close/>
              </a:path>
            </a:pathLst>
          </a:custGeom>
          <a:solidFill>
            <a:srgbClr val="EF333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BD951E64-7980-F1E5-598F-DDA6502AEF8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521974"/>
            <a:ext cx="4572000" cy="1017018"/>
          </a:xfrm>
          <a:prstGeom prst="rect">
            <a:avLst/>
          </a:prstGeom>
        </p:spPr>
      </p:pic>
      <p:pic>
        <p:nvPicPr>
          <p:cNvPr id="9" name="Picture 8" descr="A black and red sign with white text&#10;&#10;AI-generated content may be incorrect.">
            <a:extLst>
              <a:ext uri="{FF2B5EF4-FFF2-40B4-BE49-F238E27FC236}">
                <a16:creationId xmlns:a16="http://schemas.microsoft.com/office/drawing/2014/main" id="{26F8460F-9A15-D977-7496-BF53EB6676B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7376" y="689367"/>
            <a:ext cx="3411170" cy="682234"/>
          </a:xfrm>
          <a:prstGeom prst="rect">
            <a:avLst/>
          </a:prstGeom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432" userDrawn="1">
          <p15:clr>
            <a:srgbClr val="FBAE40"/>
          </p15:clr>
        </p15:guide>
        <p15:guide id="4" pos="729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g object 16">
            <a:extLst>
              <a:ext uri="{FF2B5EF4-FFF2-40B4-BE49-F238E27FC236}">
                <a16:creationId xmlns:a16="http://schemas.microsoft.com/office/drawing/2014/main" id="{B0F293B3-7F46-1BBF-03CA-849600249C7B}"/>
              </a:ext>
            </a:extLst>
          </p:cNvPr>
          <p:cNvSpPr/>
          <p:nvPr userDrawn="1"/>
        </p:nvSpPr>
        <p:spPr>
          <a:xfrm>
            <a:off x="0" y="0"/>
            <a:ext cx="7567943" cy="6858000"/>
          </a:xfrm>
          <a:custGeom>
            <a:avLst/>
            <a:gdLst/>
            <a:ahLst/>
            <a:cxnLst/>
            <a:rect l="l" t="t" r="r" b="b"/>
            <a:pathLst>
              <a:path w="8915400" h="6858000">
                <a:moveTo>
                  <a:pt x="8915400" y="0"/>
                </a:moveTo>
                <a:lnTo>
                  <a:pt x="0" y="0"/>
                </a:lnTo>
                <a:lnTo>
                  <a:pt x="0" y="6858000"/>
                </a:lnTo>
                <a:lnTo>
                  <a:pt x="8915400" y="6858000"/>
                </a:lnTo>
                <a:lnTo>
                  <a:pt x="891540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pic>
        <p:nvPicPr>
          <p:cNvPr id="3" name="Picture 2" descr="A black and red text&#10;&#10;AI-generated content may be incorrect.">
            <a:extLst>
              <a:ext uri="{FF2B5EF4-FFF2-40B4-BE49-F238E27FC236}">
                <a16:creationId xmlns:a16="http://schemas.microsoft.com/office/drawing/2014/main" id="{214F7358-033A-0B11-55CA-9D745051388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488073"/>
            <a:ext cx="4876800" cy="1084820"/>
          </a:xfrm>
          <a:prstGeom prst="rect">
            <a:avLst/>
          </a:prstGeom>
        </p:spPr>
      </p:pic>
      <p:pic>
        <p:nvPicPr>
          <p:cNvPr id="12" name="Picture 11" descr="A black and red sign with white text&#10;&#10;AI-generated content may be incorrect.">
            <a:extLst>
              <a:ext uri="{FF2B5EF4-FFF2-40B4-BE49-F238E27FC236}">
                <a16:creationId xmlns:a16="http://schemas.microsoft.com/office/drawing/2014/main" id="{6DF515CD-C903-78B1-2AF2-0E712EED950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7376" y="689367"/>
            <a:ext cx="3411170" cy="682234"/>
          </a:xfrm>
          <a:prstGeom prst="rect">
            <a:avLst/>
          </a:prstGeom>
        </p:spPr>
      </p:pic>
      <p:sp>
        <p:nvSpPr>
          <p:cNvPr id="13" name="object 2">
            <a:extLst>
              <a:ext uri="{FF2B5EF4-FFF2-40B4-BE49-F238E27FC236}">
                <a16:creationId xmlns:a16="http://schemas.microsoft.com/office/drawing/2014/main" id="{04603041-A29E-F475-E901-043A85A1B016}"/>
              </a:ext>
            </a:extLst>
          </p:cNvPr>
          <p:cNvSpPr txBox="1"/>
          <p:nvPr userDrawn="1"/>
        </p:nvSpPr>
        <p:spPr>
          <a:xfrm>
            <a:off x="668790" y="6126683"/>
            <a:ext cx="550341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RUA</a:t>
            </a:r>
            <a:r>
              <a:rPr sz="1200" b="0" spc="-20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DR.</a:t>
            </a:r>
            <a:r>
              <a:rPr sz="1200" b="0" spc="-15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ROBERTO</a:t>
            </a:r>
            <a:r>
              <a:rPr sz="1200" b="0" spc="-20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FRIAS</a:t>
            </a:r>
            <a:r>
              <a:rPr sz="1200" b="0" spc="265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900" baseline="18518" dirty="0">
                <a:solidFill>
                  <a:srgbClr val="DC4647"/>
                </a:solidFill>
                <a:latin typeface="ScalaSansPro-Ita"/>
                <a:cs typeface="ScalaSansPro-Ita"/>
              </a:rPr>
              <a:t>▪</a:t>
            </a:r>
            <a:r>
              <a:rPr sz="900" spc="630" baseline="18518" dirty="0">
                <a:solidFill>
                  <a:srgbClr val="F9353E"/>
                </a:solidFill>
                <a:latin typeface="ScalaSansPro-Ita"/>
                <a:cs typeface="ScalaSansPro-Ita"/>
              </a:rPr>
              <a:t> </a:t>
            </a:r>
            <a:r>
              <a:rPr sz="1200" b="0" spc="-10" dirty="0">
                <a:solidFill>
                  <a:srgbClr val="231F20"/>
                </a:solidFill>
                <a:latin typeface="ScalaSansPro-Light"/>
                <a:cs typeface="ScalaSansPro-Light"/>
              </a:rPr>
              <a:t>4200-</a:t>
            </a: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464</a:t>
            </a:r>
            <a:r>
              <a:rPr sz="1200" b="0" spc="-20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PORTO</a:t>
            </a:r>
            <a:r>
              <a:rPr sz="1200" b="0" spc="260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lang="en-PT" sz="900" baseline="18518" dirty="0">
                <a:solidFill>
                  <a:srgbClr val="DC4647"/>
                </a:solidFill>
                <a:latin typeface="ScalaSansPro-Ita"/>
                <a:cs typeface="ScalaSansPro-Ita"/>
              </a:rPr>
              <a:t>▪</a:t>
            </a:r>
            <a:r>
              <a:rPr sz="900" spc="630" baseline="18518" dirty="0">
                <a:solidFill>
                  <a:srgbClr val="F9353E"/>
                </a:solidFill>
                <a:latin typeface="ScalaSansPro-Ita"/>
                <a:cs typeface="ScalaSansPro-Ita"/>
              </a:rPr>
              <a:t> </a:t>
            </a:r>
            <a:r>
              <a:rPr sz="1200" b="0" spc="-10" dirty="0">
                <a:solidFill>
                  <a:srgbClr val="231F20"/>
                </a:solidFill>
                <a:latin typeface="ScalaSansPro-Light"/>
                <a:cs typeface="ScalaSansPro-Light"/>
              </a:rPr>
              <a:t>PORTUGAL</a:t>
            </a:r>
            <a:endParaRPr sz="1200" dirty="0">
              <a:latin typeface="ScalaSansPro-Light"/>
              <a:cs typeface="ScalaSansPro-Light"/>
            </a:endParaRPr>
          </a:p>
          <a:p>
            <a:pPr marL="38100">
              <a:lnSpc>
                <a:spcPct val="100000"/>
              </a:lnSpc>
            </a:pPr>
            <a:r>
              <a:rPr sz="1200" spc="-50" dirty="0">
                <a:solidFill>
                  <a:srgbClr val="DC4647"/>
                </a:solidFill>
                <a:latin typeface="ScalaSansPro-Ita"/>
                <a:cs typeface="ScalaSansPro-Ita"/>
              </a:rPr>
              <a:t>T.</a:t>
            </a:r>
            <a:r>
              <a:rPr sz="1200" spc="-15" dirty="0">
                <a:solidFill>
                  <a:srgbClr val="DC4647"/>
                </a:solidFill>
                <a:latin typeface="ScalaSansPro-Ita"/>
                <a:cs typeface="ScalaSansPro-Ita"/>
              </a:rPr>
              <a:t> </a:t>
            </a: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+351</a:t>
            </a:r>
            <a:r>
              <a:rPr sz="1200" b="0" spc="-15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225</a:t>
            </a:r>
            <a:r>
              <a:rPr sz="1200" b="0" spc="-15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571</a:t>
            </a:r>
            <a:r>
              <a:rPr sz="1200" b="0" spc="-15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100</a:t>
            </a:r>
            <a:r>
              <a:rPr sz="1200" b="0" spc="270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1200" dirty="0">
                <a:solidFill>
                  <a:srgbClr val="DC4647"/>
                </a:solidFill>
                <a:latin typeface="ScalaSansPro-Ita"/>
                <a:cs typeface="ScalaSansPro-Ita"/>
              </a:rPr>
              <a:t>|</a:t>
            </a:r>
            <a:r>
              <a:rPr sz="1200" spc="270" dirty="0">
                <a:solidFill>
                  <a:srgbClr val="F9353E"/>
                </a:solidFill>
                <a:latin typeface="ScalaSansPro-Ita"/>
                <a:cs typeface="ScalaSansPro-Ita"/>
              </a:rPr>
              <a:t> </a:t>
            </a:r>
            <a:r>
              <a:rPr lang="pt-PT" sz="1200" b="0" spc="-10" dirty="0">
                <a:solidFill>
                  <a:srgbClr val="231F20"/>
                </a:solidFill>
                <a:latin typeface="ScalaSansPro-Light"/>
                <a:cs typeface="ScalaSansPro-Light"/>
                <a:hlinkClick r:id="rId4"/>
              </a:rPr>
              <a:t>FORMACAO.EXECUTIVA@FEP.UP.PT</a:t>
            </a:r>
            <a:r>
              <a:rPr lang="pt-PT" sz="1200" b="0" spc="265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1200" dirty="0">
                <a:solidFill>
                  <a:srgbClr val="DC4647"/>
                </a:solidFill>
                <a:latin typeface="ScalaSansPro-Ita"/>
                <a:cs typeface="ScalaSansPro-Ita"/>
              </a:rPr>
              <a:t>|</a:t>
            </a:r>
            <a:r>
              <a:rPr sz="1200" spc="270" dirty="0">
                <a:solidFill>
                  <a:srgbClr val="F9353E"/>
                </a:solidFill>
                <a:latin typeface="ScalaSansPro-Ita"/>
                <a:cs typeface="ScalaSansPro-Ita"/>
              </a:rPr>
              <a:t> </a:t>
            </a:r>
            <a:r>
              <a:rPr sz="1200" b="0" spc="-10" dirty="0">
                <a:solidFill>
                  <a:srgbClr val="231F20"/>
                </a:solidFill>
                <a:latin typeface="ScalaSansPro-Light"/>
                <a:cs typeface="ScalaSansPro-Light"/>
                <a:hlinkClick r:id="rId5"/>
              </a:rPr>
              <a:t>WWW.FEP.UP.PT</a:t>
            </a:r>
            <a:endParaRPr sz="1200" dirty="0">
              <a:latin typeface="ScalaSansPro-Light"/>
              <a:cs typeface="ScalaSansPro-Ligh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7296" userDrawn="1">
          <p15:clr>
            <a:srgbClr val="FBAE40"/>
          </p15:clr>
        </p15:guide>
        <p15:guide id="4" pos="432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73093" y="2325179"/>
            <a:ext cx="4309110" cy="8274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0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52400" y="2362200"/>
            <a:ext cx="7404107" cy="805990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/>
          <a:p>
            <a:r>
              <a:rPr lang="pt-BR" b="0" dirty="0"/>
              <a:t> </a:t>
            </a:r>
            <a:r>
              <a:rPr lang="pt-BR" dirty="0"/>
              <a:t>Avaliação crítica de uma análise de dados </a:t>
            </a:r>
            <a:r>
              <a:rPr lang="en-GB" sz="2000" b="0" spc="-100" dirty="0">
                <a:latin typeface="Calibri"/>
                <a:cs typeface="Calibri"/>
              </a:rPr>
              <a:t>26/10/2026</a:t>
            </a:r>
            <a:r>
              <a:rPr sz="2000" b="0" dirty="0">
                <a:latin typeface="Calibri"/>
                <a:cs typeface="Calibri"/>
              </a:rPr>
              <a:t> |</a:t>
            </a:r>
            <a:r>
              <a:rPr lang="en-GB" sz="2000" b="0" dirty="0">
                <a:latin typeface="Calibri"/>
                <a:cs typeface="Calibri"/>
              </a:rPr>
              <a:t> </a:t>
            </a:r>
            <a:r>
              <a:rPr lang="en-GB" sz="2000" b="0" dirty="0" err="1">
                <a:latin typeface="Calibri"/>
                <a:cs typeface="Calibri"/>
              </a:rPr>
              <a:t>Relatorio</a:t>
            </a:r>
            <a:r>
              <a:rPr lang="en-GB" sz="2000" b="0" dirty="0">
                <a:latin typeface="Calibri"/>
                <a:cs typeface="Calibri"/>
              </a:rPr>
              <a:t> 5</a:t>
            </a:r>
            <a:endParaRPr sz="20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FAB14-2CBD-0AB7-B5E7-0BA789B15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79EABEAC-EA1E-6B34-50FA-EF2B6FFC77E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73093" y="516451"/>
            <a:ext cx="10833107" cy="528991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/>
          <a:p>
            <a:r>
              <a:rPr lang="en-GB" sz="3200" dirty="0" err="1">
                <a:solidFill>
                  <a:srgbClr val="E83342"/>
                </a:solidFill>
              </a:rPr>
              <a:t>Questão</a:t>
            </a:r>
            <a:endParaRPr lang="en-GB" sz="3200" dirty="0">
              <a:solidFill>
                <a:srgbClr val="E83342"/>
              </a:solidFill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9CD90C1C-8C9C-5C54-2386-1CCA0F15ED64}"/>
              </a:ext>
            </a:extLst>
          </p:cNvPr>
          <p:cNvSpPr txBox="1"/>
          <p:nvPr/>
        </p:nvSpPr>
        <p:spPr>
          <a:xfrm>
            <a:off x="673093" y="1953300"/>
            <a:ext cx="10833107" cy="132087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2000" spc="-10" dirty="0">
                <a:solidFill>
                  <a:srgbClr val="F9353E"/>
                </a:solidFill>
                <a:latin typeface="Calibri"/>
                <a:cs typeface="Calibri"/>
              </a:rPr>
              <a:t>RESULTADOS</a:t>
            </a:r>
            <a:endParaRPr sz="20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555"/>
              </a:spcBef>
            </a:pPr>
            <a:endParaRPr sz="2000" dirty="0">
              <a:latin typeface="Calibri"/>
              <a:cs typeface="Calibri"/>
            </a:endParaRPr>
          </a:p>
          <a:p>
            <a:r>
              <a:rPr lang="pt-BR" sz="2000" b="0" dirty="0">
                <a:solidFill>
                  <a:srgbClr val="1D1D1F"/>
                </a:solidFill>
                <a:latin typeface="Calibri"/>
              </a:rPr>
              <a:t>Os resultados e conclusões do analista constituem uma base adequada para apoiar a segmentação e a classificação de novos clientes?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C92377-8B1F-47B0-45FC-FEF7E14B6C0B}"/>
              </a:ext>
            </a:extLst>
          </p:cNvPr>
          <p:cNvSpPr txBox="1"/>
          <p:nvPr/>
        </p:nvSpPr>
        <p:spPr>
          <a:xfrm>
            <a:off x="651322" y="3429000"/>
            <a:ext cx="1083310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200" b="1" dirty="0">
                <a:solidFill>
                  <a:srgbClr val="FF0000"/>
                </a:solidFill>
                <a:latin typeface="Calibri"/>
              </a:rPr>
              <a:t>Resposta: ainda não. Bom ponto de partida, mas faltam validação, correções e a classificação de novos clientes.</a:t>
            </a:r>
          </a:p>
        </p:txBody>
      </p:sp>
    </p:spTree>
    <p:extLst>
      <p:ext uri="{BB962C8B-B14F-4D97-AF65-F5344CB8AC3E}">
        <p14:creationId xmlns:p14="http://schemas.microsoft.com/office/powerpoint/2010/main" val="17564966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73093" y="516451"/>
            <a:ext cx="10833107" cy="528991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/>
          <a:p>
            <a:r>
              <a:rPr lang="en-GB" sz="3200" dirty="0" err="1">
                <a:solidFill>
                  <a:srgbClr val="E83342"/>
                </a:solidFill>
              </a:rPr>
              <a:t>Avaliação</a:t>
            </a:r>
            <a:r>
              <a:rPr lang="en-GB" sz="3200" dirty="0">
                <a:solidFill>
                  <a:srgbClr val="E83342"/>
                </a:solidFill>
              </a:rPr>
              <a:t> do R5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73093" y="1953300"/>
            <a:ext cx="10833107" cy="132087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2000" spc="-10" dirty="0">
                <a:solidFill>
                  <a:srgbClr val="F9353E"/>
                </a:solidFill>
                <a:latin typeface="Calibri"/>
                <a:cs typeface="Calibri"/>
              </a:rPr>
              <a:t>RESULTADOS</a:t>
            </a:r>
            <a:endParaRPr sz="20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555"/>
              </a:spcBef>
            </a:pPr>
            <a:endParaRPr sz="2000" dirty="0">
              <a:latin typeface="Calibri"/>
              <a:cs typeface="Calibri"/>
            </a:endParaRPr>
          </a:p>
          <a:p>
            <a:r>
              <a:rPr lang="pt-BR" sz="2000" b="0" dirty="0">
                <a:solidFill>
                  <a:srgbClr val="1D1D1F"/>
                </a:solidFill>
                <a:latin typeface="Calibri"/>
              </a:rPr>
              <a:t>Os resultados e conclusões do analista constituem uma base adequada para apoiar a segmentação e a classificação de novos clientes?</a:t>
            </a:r>
          </a:p>
        </p:txBody>
      </p:sp>
      <p:pic>
        <p:nvPicPr>
          <p:cNvPr id="5" name="table">
            <a:extLst>
              <a:ext uri="{FF2B5EF4-FFF2-40B4-BE49-F238E27FC236}">
                <a16:creationId xmlns:a16="http://schemas.microsoft.com/office/drawing/2014/main" id="{F6C1BA84-A568-0F5A-12CB-D174624EB8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" y="1874520"/>
            <a:ext cx="1106424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3CDB8-2288-5A70-F3E4-F0CAC0FE7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4ACFD7-B40D-A656-18C6-E262DE4728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137660"/>
          </a:xfrm>
        </p:spPr>
        <p:txBody>
          <a:bodyPr/>
          <a:lstStyle/>
          <a:p>
            <a:pPr>
              <a:spcAft>
                <a:spcPts val="1200"/>
              </a:spcAft>
            </a:pPr>
            <a:r>
              <a:rPr lang="pt-BR" dirty="0">
                <a:solidFill>
                  <a:srgbClr val="1D1D1F"/>
                </a:solidFill>
              </a:rPr>
              <a:t>• </a:t>
            </a:r>
            <a:r>
              <a:rPr lang="pt-BR" sz="2400" dirty="0">
                <a:solidFill>
                  <a:srgbClr val="1D1D1F"/>
                </a:solidFill>
              </a:rPr>
              <a:t>Eliminação de 20 clientes (6,7%): só inócua se a falta for aleatória; 6 abandonos nesses 20 (30%) vs 15,7% (Fisher p ≈ 0,12: sinal, não prova)</a:t>
            </a:r>
          </a:p>
          <a:p>
            <a:pPr>
              <a:spcAft>
                <a:spcPts val="1200"/>
              </a:spcAft>
            </a:pPr>
            <a:r>
              <a:rPr lang="pt-BR" sz="2400" dirty="0">
                <a:solidFill>
                  <a:srgbClr val="1D1D1F"/>
                </a:solidFill>
              </a:rPr>
              <a:t>• Ordinais e contagens tratadas como contínuas; Pearson em variáveis assimétricas</a:t>
            </a:r>
          </a:p>
          <a:p>
            <a:pPr>
              <a:spcAft>
                <a:spcPts val="1200"/>
              </a:spcAft>
            </a:pPr>
            <a:r>
              <a:rPr lang="pt-BR" sz="2400" dirty="0">
                <a:solidFill>
                  <a:srgbClr val="1D1D1F"/>
                </a:solidFill>
              </a:rPr>
              <a:t>• Padronização «protege dos extremos»: errado. O z-score é linear; os extremos mantêm-se a 3,7 DP</a:t>
            </a:r>
          </a:p>
          <a:p>
            <a:pPr>
              <a:spcAft>
                <a:spcPts val="1200"/>
              </a:spcAft>
            </a:pPr>
            <a:r>
              <a:rPr lang="pt-BR" sz="2400" dirty="0">
                <a:solidFill>
                  <a:srgbClr val="1D1D1F"/>
                </a:solidFill>
              </a:rPr>
              <a:t>• K-means: 4 variáveis de «valor» correlacionadas (r até 0,84) pesam mais; sem inicializações nem semente</a:t>
            </a:r>
          </a:p>
          <a:p>
            <a:endParaRPr lang="en-GB" dirty="0"/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A7623D40-F8D8-5530-7318-92745BD9C568}"/>
              </a:ext>
            </a:extLst>
          </p:cNvPr>
          <p:cNvSpPr txBox="1">
            <a:spLocks/>
          </p:cNvSpPr>
          <p:nvPr/>
        </p:nvSpPr>
        <p:spPr>
          <a:xfrm>
            <a:off x="673093" y="516451"/>
            <a:ext cx="10833107" cy="467436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>
            <a:lvl1pPr>
              <a:defRPr sz="3000" b="1" i="0">
                <a:solidFill>
                  <a:schemeClr val="bg1"/>
                </a:solidFill>
                <a:latin typeface="Calibri"/>
                <a:ea typeface="+mj-ea"/>
                <a:cs typeface="Calibri"/>
              </a:defRPr>
            </a:lvl1pPr>
          </a:lstStyle>
          <a:p>
            <a:r>
              <a:rPr lang="en-GB" sz="2800" dirty="0" err="1">
                <a:solidFill>
                  <a:srgbClr val="E83342"/>
                </a:solidFill>
              </a:rPr>
              <a:t>Critério</a:t>
            </a:r>
            <a:r>
              <a:rPr lang="en-GB" sz="2800" dirty="0">
                <a:solidFill>
                  <a:srgbClr val="E83342"/>
                </a:solidFill>
              </a:rPr>
              <a:t> A: </a:t>
            </a:r>
            <a:r>
              <a:rPr lang="en-GB" sz="2800" dirty="0" err="1">
                <a:solidFill>
                  <a:srgbClr val="E83342"/>
                </a:solidFill>
              </a:rPr>
              <a:t>adequação</a:t>
            </a:r>
            <a:r>
              <a:rPr lang="en-GB" sz="2800" dirty="0">
                <a:solidFill>
                  <a:srgbClr val="E83342"/>
                </a:solidFill>
              </a:rPr>
              <a:t> </a:t>
            </a:r>
            <a:r>
              <a:rPr lang="en-GB" sz="2800" dirty="0" err="1">
                <a:solidFill>
                  <a:srgbClr val="E83342"/>
                </a:solidFill>
              </a:rPr>
              <a:t>metodológica</a:t>
            </a:r>
            <a:endParaRPr lang="en-GB" sz="2800" dirty="0">
              <a:solidFill>
                <a:srgbClr val="E833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18439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4E6C0-43AD-91C4-40F4-93FF251FA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0ADD50-E53D-02F8-59E1-4756B8DB1D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7" name="Picture 6" descr="figA_silhueta.png">
            <a:extLst>
              <a:ext uri="{FF2B5EF4-FFF2-40B4-BE49-F238E27FC236}">
                <a16:creationId xmlns:a16="http://schemas.microsoft.com/office/drawing/2014/main" id="{E2A6E8D2-7A81-6C64-AEFD-1AC222B0B4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977" y="1237101"/>
            <a:ext cx="5760720" cy="486651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3A04026-FB3A-917C-FC7F-1D2BFFB774CC}"/>
              </a:ext>
            </a:extLst>
          </p:cNvPr>
          <p:cNvSpPr txBox="1"/>
          <p:nvPr/>
        </p:nvSpPr>
        <p:spPr>
          <a:xfrm>
            <a:off x="6469017" y="1328541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dirty="0">
                <a:solidFill>
                  <a:srgbClr val="1D1D1F"/>
                </a:solidFill>
                <a:latin typeface="Calibri"/>
              </a:rPr>
              <a:t>• k = 3 contra o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critério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usado</a:t>
            </a:r>
            <a:r>
              <a:rPr sz="2000" dirty="0">
                <a:solidFill>
                  <a:srgbClr val="1D1D1F"/>
                </a:solidFill>
                <a:latin typeface="Calibri"/>
              </a:rPr>
              <a:t>: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legítimo</a:t>
            </a:r>
            <a:r>
              <a:rPr sz="2000" dirty="0">
                <a:solidFill>
                  <a:srgbClr val="1D1D1F"/>
                </a:solidFill>
                <a:latin typeface="Calibri"/>
              </a:rPr>
              <a:t>, mas com um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só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índice</a:t>
            </a:r>
            <a:endParaRPr sz="2000" dirty="0">
              <a:solidFill>
                <a:srgbClr val="1D1D1F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000" dirty="0">
                <a:solidFill>
                  <a:srgbClr val="1D1D1F"/>
                </a:solidFill>
                <a:latin typeface="Calibri"/>
              </a:rPr>
              <a:t>•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Todas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as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silhuetas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entre 0,21 e 0,35: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estrutura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fraca</a:t>
            </a:r>
            <a:endParaRPr sz="2000" dirty="0">
              <a:solidFill>
                <a:srgbClr val="1D1D1F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000" dirty="0">
                <a:solidFill>
                  <a:srgbClr val="1D1D1F"/>
                </a:solidFill>
                <a:latin typeface="Calibri"/>
              </a:rPr>
              <a:t>• k = 4 (0,319)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quase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empata</a:t>
            </a:r>
            <a:r>
              <a:rPr sz="2000" dirty="0">
                <a:solidFill>
                  <a:srgbClr val="1D1D1F"/>
                </a:solidFill>
                <a:latin typeface="Calibri"/>
              </a:rPr>
              <a:t>; a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figura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do R5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sugere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quatro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nuvens</a:t>
            </a:r>
            <a:endParaRPr sz="2000" dirty="0">
              <a:solidFill>
                <a:srgbClr val="1D1D1F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000" dirty="0">
                <a:solidFill>
                  <a:srgbClr val="1D1D1F"/>
                </a:solidFill>
                <a:latin typeface="Calibri"/>
              </a:rPr>
              <a:t>• Falta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estabilidade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(bootstrap) e outros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critérios</a:t>
            </a:r>
            <a:endParaRPr sz="2000" dirty="0">
              <a:solidFill>
                <a:srgbClr val="1D1D1F"/>
              </a:solidFill>
              <a:latin typeface="Calibri"/>
            </a:endParaRPr>
          </a:p>
        </p:txBody>
      </p:sp>
      <p:sp>
        <p:nvSpPr>
          <p:cNvPr id="11" name="object 2">
            <a:extLst>
              <a:ext uri="{FF2B5EF4-FFF2-40B4-BE49-F238E27FC236}">
                <a16:creationId xmlns:a16="http://schemas.microsoft.com/office/drawing/2014/main" id="{8E6D2140-050A-6D52-3A57-A3233026C863}"/>
              </a:ext>
            </a:extLst>
          </p:cNvPr>
          <p:cNvSpPr txBox="1">
            <a:spLocks/>
          </p:cNvSpPr>
          <p:nvPr/>
        </p:nvSpPr>
        <p:spPr>
          <a:xfrm>
            <a:off x="673093" y="516451"/>
            <a:ext cx="10833107" cy="467436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>
            <a:lvl1pPr>
              <a:defRPr sz="3000" b="1" i="0">
                <a:solidFill>
                  <a:schemeClr val="bg1"/>
                </a:solidFill>
                <a:latin typeface="Calibri"/>
                <a:ea typeface="+mj-ea"/>
                <a:cs typeface="Calibri"/>
              </a:defRPr>
            </a:lvl1pPr>
          </a:lstStyle>
          <a:p>
            <a:r>
              <a:rPr lang="pt-BR" sz="2800" dirty="0">
                <a:solidFill>
                  <a:srgbClr val="E83342"/>
                </a:solidFill>
              </a:rPr>
              <a:t>Escolha do número de clusters</a:t>
            </a:r>
          </a:p>
        </p:txBody>
      </p:sp>
    </p:spTree>
    <p:extLst>
      <p:ext uri="{BB962C8B-B14F-4D97-AF65-F5344CB8AC3E}">
        <p14:creationId xmlns:p14="http://schemas.microsoft.com/office/powerpoint/2010/main" val="41457143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EA230-2D57-2A50-6251-44BF3A1E4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DAC873-8250-4FF9-3D09-817948F5B5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56EF77D-D563-2FED-4914-3D7ADA8DEA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0287794"/>
              </p:ext>
            </p:extLst>
          </p:nvPr>
        </p:nvGraphicFramePr>
        <p:xfrm>
          <a:off x="457200" y="1531620"/>
          <a:ext cx="53949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latin typeface="Calibri"/>
                        </a:rPr>
                        <a:t>Problema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latin typeface="Calibri"/>
                        </a:rPr>
                        <a:t>Evidência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V de Cramér da Região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√(1,364/300) = 0,067, não 0,039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Valores próprios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Somam 9,033 (devia ser 9); % somam 100,08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«Loadings»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São vetores próprios (norma ≈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Cluster 3 «mais velho»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 dirty="0">
                          <a:latin typeface="Calibri"/>
                        </a:rPr>
                        <a:t>47,9 </a:t>
                      </a:r>
                      <a:r>
                        <a:rPr sz="1500" b="0" dirty="0" err="1">
                          <a:latin typeface="Calibri"/>
                        </a:rPr>
                        <a:t>anos</a:t>
                      </a:r>
                      <a:r>
                        <a:rPr sz="1500" b="0" dirty="0">
                          <a:latin typeface="Calibri"/>
                        </a:rPr>
                        <a:t> vs 47,2 no Cluster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7" name="Picture 6" descr="fig1_anotada.png">
            <a:extLst>
              <a:ext uri="{FF2B5EF4-FFF2-40B4-BE49-F238E27FC236}">
                <a16:creationId xmlns:a16="http://schemas.microsoft.com/office/drawing/2014/main" id="{43158C43-931E-1A37-0DE1-CD64A5C39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531620"/>
            <a:ext cx="5669280" cy="369797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A62882D-75A0-F769-0B86-2E7B0C147C6F}"/>
              </a:ext>
            </a:extLst>
          </p:cNvPr>
          <p:cNvSpPr txBox="1"/>
          <p:nvPr/>
        </p:nvSpPr>
        <p:spPr>
          <a:xfrm>
            <a:off x="457200" y="473202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E83342"/>
                </a:solidFill>
                <a:latin typeface="Calibri"/>
              </a:rPr>
              <a:t>Legenda da Figura 1 contradiz a Tabela 10: rótulos dos clusters 1 e 3 trocados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615DA0-361E-91C6-1335-29020BF0F294}"/>
              </a:ext>
            </a:extLst>
          </p:cNvPr>
          <p:cNvSpPr txBox="1"/>
          <p:nvPr/>
        </p:nvSpPr>
        <p:spPr>
          <a:xfrm>
            <a:off x="489857" y="581085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200" b="1" dirty="0">
                <a:solidFill>
                  <a:srgbClr val="E83342"/>
                </a:solidFill>
                <a:latin typeface="Calibri"/>
              </a:rPr>
              <a:t>Critério B: erros e inconsistências</a:t>
            </a:r>
          </a:p>
        </p:txBody>
      </p:sp>
    </p:spTree>
    <p:extLst>
      <p:ext uri="{BB962C8B-B14F-4D97-AF65-F5344CB8AC3E}">
        <p14:creationId xmlns:p14="http://schemas.microsoft.com/office/powerpoint/2010/main" val="20449405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168554-26C8-8260-27CC-16902EB9B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251C56-F2F1-185F-A866-566F84C07A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object 2">
            <a:extLst>
              <a:ext uri="{FF2B5EF4-FFF2-40B4-BE49-F238E27FC236}">
                <a16:creationId xmlns:a16="http://schemas.microsoft.com/office/drawing/2014/main" id="{9838F602-9A60-720B-C359-755C76B9F7A3}"/>
              </a:ext>
            </a:extLst>
          </p:cNvPr>
          <p:cNvSpPr txBox="1">
            <a:spLocks/>
          </p:cNvSpPr>
          <p:nvPr/>
        </p:nvSpPr>
        <p:spPr>
          <a:xfrm>
            <a:off x="673093" y="516451"/>
            <a:ext cx="10833107" cy="467436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>
            <a:lvl1pPr>
              <a:defRPr sz="3000" b="1" i="0">
                <a:solidFill>
                  <a:schemeClr val="bg1"/>
                </a:solidFill>
                <a:latin typeface="Calibri"/>
                <a:ea typeface="+mj-ea"/>
                <a:cs typeface="Calibri"/>
              </a:defRPr>
            </a:lvl1pPr>
          </a:lstStyle>
          <a:p>
            <a:r>
              <a:rPr lang="pt-BR" sz="2800" dirty="0">
                <a:solidFill>
                  <a:srgbClr val="E83342"/>
                </a:solidFill>
              </a:rPr>
              <a:t>Interpretações que vão além da evidência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F902C6-1A0D-3BD9-D3F3-EB7609585B74}"/>
              </a:ext>
            </a:extLst>
          </p:cNvPr>
          <p:cNvSpPr txBox="1"/>
          <p:nvPr/>
        </p:nvSpPr>
        <p:spPr>
          <a:xfrm>
            <a:off x="64008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dirty="0">
                <a:solidFill>
                  <a:srgbClr val="1D1D1F"/>
                </a:solidFill>
                <a:latin typeface="Calibri"/>
              </a:rPr>
              <a:t>• «Valor do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cliente</a:t>
            </a:r>
            <a:r>
              <a:rPr sz="2300" dirty="0">
                <a:solidFill>
                  <a:srgbClr val="1D1D1F"/>
                </a:solidFill>
                <a:latin typeface="Calibri"/>
              </a:rPr>
              <a:t>»: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rendimento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e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despesa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não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medem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o valor para a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empresa</a:t>
            </a:r>
            <a:r>
              <a:rPr sz="2300" dirty="0">
                <a:solidFill>
                  <a:srgbClr val="1D1D1F"/>
                </a:solidFill>
                <a:latin typeface="Calibri"/>
              </a:rPr>
              <a:t>; é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uma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inferência</a:t>
            </a:r>
            <a:endParaRPr sz="2300" dirty="0">
              <a:solidFill>
                <a:srgbClr val="1D1D1F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300" dirty="0">
                <a:solidFill>
                  <a:srgbClr val="1D1D1F"/>
                </a:solidFill>
                <a:latin typeface="Calibri"/>
              </a:rPr>
              <a:t>•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Circularidade</a:t>
            </a:r>
            <a:r>
              <a:rPr sz="2300" dirty="0">
                <a:solidFill>
                  <a:srgbClr val="1D1D1F"/>
                </a:solidFill>
                <a:latin typeface="Calibri"/>
              </a:rPr>
              <a:t>: clusters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descritos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com as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variáveis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que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os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definiram</a:t>
            </a:r>
            <a:r>
              <a:rPr sz="2300" dirty="0">
                <a:solidFill>
                  <a:srgbClr val="1D1D1F"/>
                </a:solidFill>
                <a:latin typeface="Calibri"/>
              </a:rPr>
              <a:t>;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só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médias</a:t>
            </a:r>
            <a:r>
              <a:rPr sz="2300" dirty="0">
                <a:solidFill>
                  <a:srgbClr val="1D1D1F"/>
                </a:solidFill>
                <a:latin typeface="Calibri"/>
              </a:rPr>
              <a:t>,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sem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dispersão</a:t>
            </a:r>
            <a:endParaRPr sz="2300" dirty="0">
              <a:solidFill>
                <a:srgbClr val="1D1D1F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300" dirty="0">
                <a:solidFill>
                  <a:srgbClr val="1D1D1F"/>
                </a:solidFill>
                <a:latin typeface="Calibri"/>
              </a:rPr>
              <a:t>•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Método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de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pagamento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: p = 0,065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não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é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significativo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, mas é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apresentado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como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«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fator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relevante</a:t>
            </a:r>
            <a:r>
              <a:rPr sz="2300" dirty="0">
                <a:solidFill>
                  <a:srgbClr val="1D1D1F"/>
                </a:solidFill>
                <a:latin typeface="Calibri"/>
              </a:rPr>
              <a:t>»;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fidelização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(0,088) e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perfil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(0,090)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ignorados</a:t>
            </a:r>
            <a:endParaRPr sz="2300" dirty="0">
              <a:solidFill>
                <a:srgbClr val="1D1D1F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300" dirty="0">
                <a:solidFill>
                  <a:srgbClr val="1D1D1F"/>
                </a:solidFill>
                <a:latin typeface="Calibri"/>
              </a:rPr>
              <a:t>•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Rótulos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«valor» (CP1) e «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modernização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» (CP2):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leituras</a:t>
            </a:r>
            <a:r>
              <a:rPr sz="2300" dirty="0">
                <a:solidFill>
                  <a:srgbClr val="1D1D1F"/>
                </a:solidFill>
                <a:latin typeface="Calibri"/>
              </a:rPr>
              <a:t>, com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interpretação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seletiva</a:t>
            </a:r>
            <a:endParaRPr sz="2300" dirty="0">
              <a:solidFill>
                <a:srgbClr val="1D1D1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164006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E91B3-65ED-04B2-C403-CE89CE2BC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173F62-572D-C650-5EB7-638F3338F4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00104E-5482-6647-ADBB-9734CDCE4F00}"/>
              </a:ext>
            </a:extLst>
          </p:cNvPr>
          <p:cNvSpPr txBox="1"/>
          <p:nvPr/>
        </p:nvSpPr>
        <p:spPr>
          <a:xfrm>
            <a:off x="609600" y="3886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E83342"/>
                </a:solidFill>
                <a:latin typeface="Calibri"/>
              </a:rPr>
              <a:t>Critério C: validade das conclusões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CA8DD8D-4F5C-639D-BB55-A8B03466E9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530346"/>
              </p:ext>
            </p:extLst>
          </p:nvPr>
        </p:nvGraphicFramePr>
        <p:xfrm>
          <a:off x="609600" y="1714500"/>
          <a:ext cx="658368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r>
                        <a:rPr sz="1600" b="1">
                          <a:latin typeface="Calibri"/>
                        </a:rPr>
                        <a:t>Conclusão do R5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>
                          <a:latin typeface="Calibri"/>
                        </a:rPr>
                        <a:t>Suportada?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Existem 3 segmentos distintos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Parcialmente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600" b="0" dirty="0">
                          <a:latin typeface="Calibri"/>
                        </a:rPr>
                        <a:t>O Cluster 3 </a:t>
                      </a:r>
                      <a:r>
                        <a:rPr sz="1600" b="0" dirty="0" err="1">
                          <a:latin typeface="Calibri"/>
                        </a:rPr>
                        <a:t>tem</a:t>
                      </a:r>
                      <a:r>
                        <a:rPr sz="1600" b="0" dirty="0">
                          <a:latin typeface="Calibri"/>
                        </a:rPr>
                        <a:t> </a:t>
                      </a:r>
                      <a:r>
                        <a:rPr sz="1600" b="0" dirty="0" err="1">
                          <a:latin typeface="Calibri"/>
                        </a:rPr>
                        <a:t>maior</a:t>
                      </a:r>
                      <a:r>
                        <a:rPr sz="1600" b="0" dirty="0">
                          <a:latin typeface="Calibri"/>
                        </a:rPr>
                        <a:t> </a:t>
                      </a:r>
                      <a:r>
                        <a:rPr sz="1600" b="0" dirty="0" err="1">
                          <a:latin typeface="Calibri"/>
                        </a:rPr>
                        <a:t>abandono</a:t>
                      </a:r>
                      <a:r>
                        <a:rPr sz="1600" b="0" dirty="0">
                          <a:latin typeface="Calibri"/>
                        </a:rPr>
                        <a:t> (23,0% vs 8,1% e 9,6%)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Sim, como associação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Diferenças entre clusters em grupo etário, plano e pagamento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Sem suporte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Método de pagamento: fator de retenção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 dirty="0">
                          <a:latin typeface="Calibri"/>
                        </a:rPr>
                        <a:t>Sem </a:t>
                      </a:r>
                      <a:r>
                        <a:rPr sz="1600" b="0" dirty="0" err="1">
                          <a:latin typeface="Calibri"/>
                        </a:rPr>
                        <a:t>suporte</a:t>
                      </a:r>
                      <a:endParaRPr sz="1600" b="0" dirty="0">
                        <a:latin typeface="Calibri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9" name="Picture 8" descr="figA_abandono.png">
            <a:extLst>
              <a:ext uri="{FF2B5EF4-FFF2-40B4-BE49-F238E27FC236}">
                <a16:creationId xmlns:a16="http://schemas.microsoft.com/office/drawing/2014/main" id="{98D754DB-DD86-EC91-E1AF-B76D366829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6160" y="1714500"/>
            <a:ext cx="4480560" cy="3354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5179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C56F1-18B2-9578-433E-2A896E397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F12446-AA2E-6CB9-26FC-3CAD35E7D4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066509-4022-C148-520D-56C868AE6FFC}"/>
              </a:ext>
            </a:extLst>
          </p:cNvPr>
          <p:cNvSpPr txBox="1"/>
          <p:nvPr/>
        </p:nvSpPr>
        <p:spPr>
          <a:xfrm>
            <a:off x="548640" y="411480"/>
            <a:ext cx="1115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200" b="1" dirty="0">
                <a:solidFill>
                  <a:srgbClr val="E83342"/>
                </a:solidFill>
                <a:latin typeface="Calibri"/>
              </a:rPr>
              <a:t>Os resultados respondem ao problema da empresa?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AD0356A-0BA8-F1B9-5F44-7C5105BFDD64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173736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12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14400">
                <a:tc>
                  <a:txBody>
                    <a:bodyPr/>
                    <a:lstStyle/>
                    <a:p>
                      <a:r>
                        <a:rPr sz="1800" b="1" dirty="0" err="1">
                          <a:latin typeface="Calibri"/>
                        </a:rPr>
                        <a:t>Objetivo</a:t>
                      </a:r>
                      <a:r>
                        <a:rPr sz="1800" b="1" dirty="0">
                          <a:latin typeface="Calibri"/>
                        </a:rPr>
                        <a:t> da </a:t>
                      </a:r>
                      <a:r>
                        <a:rPr sz="1800" b="1" dirty="0" err="1">
                          <a:latin typeface="Calibri"/>
                        </a:rPr>
                        <a:t>empresa</a:t>
                      </a:r>
                      <a:endParaRPr sz="1800" b="1" dirty="0">
                        <a:latin typeface="Calibr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 dirty="0" err="1">
                          <a:latin typeface="Calibri"/>
                        </a:rPr>
                        <a:t>Cumpre</a:t>
                      </a:r>
                      <a:r>
                        <a:rPr sz="1800" b="1" dirty="0">
                          <a:latin typeface="Calibri"/>
                        </a:rPr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Calibri"/>
                        </a:rPr>
                        <a:t>Porquê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sz="1800" b="0" dirty="0" err="1">
                          <a:latin typeface="Calibri"/>
                        </a:rPr>
                        <a:t>Compreender</a:t>
                      </a:r>
                      <a:r>
                        <a:rPr sz="1800" b="0" dirty="0">
                          <a:latin typeface="Calibri"/>
                        </a:rPr>
                        <a:t> o </a:t>
                      </a:r>
                      <a:r>
                        <a:rPr sz="1800" b="0" dirty="0" err="1">
                          <a:latin typeface="Calibri"/>
                        </a:rPr>
                        <a:t>perfil</a:t>
                      </a:r>
                      <a:r>
                        <a:rPr sz="1800" b="0" dirty="0">
                          <a:latin typeface="Calibri"/>
                        </a:rPr>
                        <a:t> dos </a:t>
                      </a:r>
                      <a:r>
                        <a:rPr sz="1800" b="0" dirty="0" err="1">
                          <a:latin typeface="Calibri"/>
                        </a:rPr>
                        <a:t>clientes</a:t>
                      </a:r>
                      <a:endParaRPr sz="1800" b="0" dirty="0">
                        <a:latin typeface="Calibr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Em grande parte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Descrição clara, com reservas (dados em falta, extremos)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Identificar segmentos distintos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Não totalmente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0" dirty="0" err="1">
                          <a:latin typeface="Calibri"/>
                        </a:rPr>
                        <a:t>Estrutura</a:t>
                      </a:r>
                      <a:r>
                        <a:rPr sz="1800" b="0" dirty="0">
                          <a:latin typeface="Calibri"/>
                        </a:rPr>
                        <a:t> </a:t>
                      </a:r>
                      <a:r>
                        <a:rPr sz="1800" b="0" dirty="0" err="1">
                          <a:latin typeface="Calibri"/>
                        </a:rPr>
                        <a:t>fraca</a:t>
                      </a:r>
                      <a:r>
                        <a:rPr sz="1800" b="0" dirty="0">
                          <a:latin typeface="Calibri"/>
                        </a:rPr>
                        <a:t>; k e </a:t>
                      </a:r>
                      <a:r>
                        <a:rPr sz="1800" b="0" dirty="0" err="1">
                          <a:latin typeface="Calibri"/>
                        </a:rPr>
                        <a:t>extremos</a:t>
                      </a:r>
                      <a:r>
                        <a:rPr sz="1800" b="0" dirty="0">
                          <a:latin typeface="Calibri"/>
                        </a:rPr>
                        <a:t> </a:t>
                      </a:r>
                      <a:r>
                        <a:rPr sz="1800" b="0" dirty="0" err="1">
                          <a:latin typeface="Calibri"/>
                        </a:rPr>
                        <a:t>por</a:t>
                      </a:r>
                      <a:r>
                        <a:rPr sz="1800" b="0" dirty="0">
                          <a:latin typeface="Calibri"/>
                        </a:rPr>
                        <a:t> </a:t>
                      </a:r>
                      <a:r>
                        <a:rPr sz="1800" b="0" dirty="0" err="1">
                          <a:latin typeface="Calibri"/>
                        </a:rPr>
                        <a:t>validar</a:t>
                      </a:r>
                      <a:endParaRPr sz="1800" b="0" dirty="0">
                        <a:latin typeface="Calibri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sz="1800" b="0">
                          <a:latin typeface="Calibri"/>
                        </a:rPr>
                        <a:t>Sistema para classificar novos clientes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0" dirty="0" err="1">
                          <a:latin typeface="Calibri"/>
                        </a:rPr>
                        <a:t>Não</a:t>
                      </a:r>
                      <a:endParaRPr sz="1800" b="0" dirty="0">
                        <a:latin typeface="Calibr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0" dirty="0">
                          <a:latin typeface="Calibri"/>
                        </a:rPr>
                        <a:t>Sem </a:t>
                      </a:r>
                      <a:r>
                        <a:rPr sz="1800" b="0" dirty="0" err="1">
                          <a:latin typeface="Calibri"/>
                        </a:rPr>
                        <a:t>regra</a:t>
                      </a:r>
                      <a:r>
                        <a:rPr sz="1800" b="0" dirty="0">
                          <a:latin typeface="Calibri"/>
                        </a:rPr>
                        <a:t> de </a:t>
                      </a:r>
                      <a:r>
                        <a:rPr sz="1800" b="0" dirty="0" err="1">
                          <a:latin typeface="Calibri"/>
                        </a:rPr>
                        <a:t>atribuição</a:t>
                      </a:r>
                      <a:r>
                        <a:rPr sz="1800" b="0" dirty="0">
                          <a:latin typeface="Calibri"/>
                        </a:rPr>
                        <a:t>, </a:t>
                      </a:r>
                      <a:r>
                        <a:rPr sz="1800" b="0" dirty="0" err="1">
                          <a:latin typeface="Calibri"/>
                        </a:rPr>
                        <a:t>classificador</a:t>
                      </a:r>
                      <a:r>
                        <a:rPr sz="1800" b="0" dirty="0">
                          <a:latin typeface="Calibri"/>
                        </a:rPr>
                        <a:t> </a:t>
                      </a:r>
                      <a:r>
                        <a:rPr sz="1800" b="0" dirty="0" err="1">
                          <a:latin typeface="Calibri"/>
                        </a:rPr>
                        <a:t>ou</a:t>
                      </a:r>
                      <a:r>
                        <a:rPr sz="1800" b="0" dirty="0">
                          <a:latin typeface="Calibri"/>
                        </a:rPr>
                        <a:t> </a:t>
                      </a:r>
                      <a:r>
                        <a:rPr sz="1800" b="0" dirty="0" err="1">
                          <a:latin typeface="Calibri"/>
                        </a:rPr>
                        <a:t>validação</a:t>
                      </a:r>
                      <a:r>
                        <a:rPr sz="1800" b="0" dirty="0">
                          <a:latin typeface="Calibri"/>
                        </a:rPr>
                        <a:t>; </a:t>
                      </a:r>
                      <a:r>
                        <a:rPr sz="1800" b="0" dirty="0" err="1">
                          <a:latin typeface="Calibri"/>
                        </a:rPr>
                        <a:t>variáveis</a:t>
                      </a:r>
                      <a:r>
                        <a:rPr sz="1800" b="0" dirty="0">
                          <a:latin typeface="Calibri"/>
                        </a:rPr>
                        <a:t> </a:t>
                      </a:r>
                      <a:r>
                        <a:rPr sz="1800" b="0" dirty="0" err="1">
                          <a:latin typeface="Calibri"/>
                        </a:rPr>
                        <a:t>não</a:t>
                      </a:r>
                      <a:r>
                        <a:rPr sz="1800" b="0" dirty="0">
                          <a:latin typeface="Calibri"/>
                        </a:rPr>
                        <a:t> </a:t>
                      </a:r>
                      <a:r>
                        <a:rPr sz="1800" b="0" dirty="0" err="1">
                          <a:latin typeface="Calibri"/>
                        </a:rPr>
                        <a:t>existem</a:t>
                      </a:r>
                      <a:r>
                        <a:rPr sz="1800" b="0" dirty="0">
                          <a:latin typeface="Calibri"/>
                        </a:rPr>
                        <a:t> à entrada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57070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86408-A2AE-BFAF-28F1-9F731A2D5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170E7C-AD24-A6EF-690B-7C57D116A8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C2B0BF-CF44-8F03-4C94-FAB2E51150DE}"/>
              </a:ext>
            </a:extLst>
          </p:cNvPr>
          <p:cNvSpPr txBox="1"/>
          <p:nvPr/>
        </p:nvSpPr>
        <p:spPr>
          <a:xfrm>
            <a:off x="640080" y="1554480"/>
            <a:ext cx="10972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dirty="0">
                <a:solidFill>
                  <a:srgbClr val="1D1D1F"/>
                </a:solidFill>
                <a:latin typeface="Calibri"/>
              </a:rPr>
              <a:t>•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Não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adotar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o R5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como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regra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operacional</a:t>
            </a:r>
            <a:r>
              <a:rPr sz="2200" dirty="0">
                <a:solidFill>
                  <a:srgbClr val="1D1D1F"/>
                </a:solidFill>
                <a:latin typeface="Calibri"/>
              </a:rPr>
              <a:t>: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usá</a:t>
            </a:r>
            <a:r>
              <a:rPr sz="2200" dirty="0">
                <a:solidFill>
                  <a:srgbClr val="1D1D1F"/>
                </a:solidFill>
                <a:latin typeface="Calibri"/>
              </a:rPr>
              <a:t>-lo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como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hipótese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de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trabalho</a:t>
            </a:r>
            <a:endParaRPr sz="2200" dirty="0">
              <a:solidFill>
                <a:srgbClr val="1D1D1F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200" dirty="0">
                <a:solidFill>
                  <a:srgbClr val="1D1D1F"/>
                </a:solidFill>
                <a:latin typeface="Calibri"/>
              </a:rPr>
              <a:t>•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Exigir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correções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(Fig. 1, outliers, V da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Região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,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valores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próprios</a:t>
            </a:r>
            <a:r>
              <a:rPr sz="2200" dirty="0">
                <a:solidFill>
                  <a:srgbClr val="1D1D1F"/>
                </a:solidFill>
                <a:latin typeface="Calibri"/>
              </a:rPr>
              <a:t>) e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análises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de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robustez</a:t>
            </a:r>
            <a:endParaRPr sz="2200" dirty="0">
              <a:solidFill>
                <a:srgbClr val="1D1D1F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200" dirty="0">
                <a:solidFill>
                  <a:srgbClr val="1D1D1F"/>
                </a:solidFill>
                <a:latin typeface="Calibri"/>
              </a:rPr>
              <a:t>•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Encomendar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um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modelo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para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novos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clientes</a:t>
            </a:r>
            <a:r>
              <a:rPr sz="2200" dirty="0">
                <a:solidFill>
                  <a:srgbClr val="1D1D1F"/>
                </a:solidFill>
                <a:latin typeface="Calibri"/>
              </a:rPr>
              <a:t>,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validado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em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dados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não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usados</a:t>
            </a:r>
            <a:endParaRPr sz="2200" dirty="0">
              <a:solidFill>
                <a:srgbClr val="1D1D1F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200" dirty="0">
                <a:solidFill>
                  <a:srgbClr val="1D1D1F"/>
                </a:solidFill>
                <a:latin typeface="Calibri"/>
              </a:rPr>
              <a:t>• Testar a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retenção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do Cluster 3 num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piloto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com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grupo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de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controlo</a:t>
            </a:r>
            <a:endParaRPr sz="2200" dirty="0">
              <a:solidFill>
                <a:srgbClr val="1D1D1F"/>
              </a:solidFill>
              <a:latin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8FED2A-9ECB-BBE3-5BB8-DE064A6A2788}"/>
              </a:ext>
            </a:extLst>
          </p:cNvPr>
          <p:cNvSpPr txBox="1"/>
          <p:nvPr/>
        </p:nvSpPr>
        <p:spPr>
          <a:xfrm>
            <a:off x="54864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dirty="0">
                <a:solidFill>
                  <a:srgbClr val="E83342"/>
                </a:solidFill>
                <a:latin typeface="Calibri"/>
              </a:rPr>
              <a:t>Recomendações e </a:t>
            </a:r>
            <a:r>
              <a:rPr sz="3200" b="1" dirty="0" err="1">
                <a:solidFill>
                  <a:srgbClr val="E83342"/>
                </a:solidFill>
                <a:latin typeface="Calibri"/>
              </a:rPr>
              <a:t>conclusão</a:t>
            </a:r>
            <a:endParaRPr sz="3200" b="1" dirty="0">
              <a:solidFill>
                <a:srgbClr val="E83342"/>
              </a:solidFill>
              <a:latin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EF060C-1CA7-7CE1-895E-BAF391FA1CE1}"/>
              </a:ext>
            </a:extLst>
          </p:cNvPr>
          <p:cNvSpPr txBox="1"/>
          <p:nvPr/>
        </p:nvSpPr>
        <p:spPr>
          <a:xfrm>
            <a:off x="1783080" y="4382405"/>
            <a:ext cx="86868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200" b="1" dirty="0">
                <a:solidFill>
                  <a:srgbClr val="E83342"/>
                </a:solidFill>
                <a:latin typeface="Calibri"/>
              </a:rPr>
              <a:t>Conclusão: bom ponto de partida, mas ainda não uma base adequada. Precisa de correções, robustez e de um modelo preditivo.</a:t>
            </a:r>
          </a:p>
        </p:txBody>
      </p:sp>
    </p:spTree>
    <p:extLst>
      <p:ext uri="{BB962C8B-B14F-4D97-AF65-F5344CB8AC3E}">
        <p14:creationId xmlns:p14="http://schemas.microsoft.com/office/powerpoint/2010/main" val="35416316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E6C161D-85A1-617D-F80D-86E5470894E5}"/>
              </a:ext>
            </a:extLst>
          </p:cNvPr>
          <p:cNvSpPr txBox="1"/>
          <p:nvPr/>
        </p:nvSpPr>
        <p:spPr>
          <a:xfrm>
            <a:off x="9296400" y="6019800"/>
            <a:ext cx="2667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lang="en-GB" sz="1200" b="0" i="0" u="none" strike="noStrike" baseline="0" dirty="0">
              <a:solidFill>
                <a:srgbClr val="000000"/>
              </a:solidFill>
            </a:endParaRPr>
          </a:p>
          <a:p>
            <a:r>
              <a:rPr lang="en-GB" sz="1200" b="0" i="0" u="none" strike="noStrike" baseline="0" dirty="0">
                <a:solidFill>
                  <a:srgbClr val="000000"/>
                </a:solidFill>
              </a:rPr>
              <a:t> Marco Filipe Luz Martins </a:t>
            </a:r>
            <a:endParaRPr lang="en-GB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31F2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317E3BD292D1074E9071E5E9BD49264C" ma:contentTypeVersion="16" ma:contentTypeDescription="Criar um novo documento." ma:contentTypeScope="" ma:versionID="ee4de5e85160ea76f51476abcb83f699">
  <xsd:schema xmlns:xsd="http://www.w3.org/2001/XMLSchema" xmlns:xs="http://www.w3.org/2001/XMLSchema" xmlns:p="http://schemas.microsoft.com/office/2006/metadata/properties" xmlns:ns3="e8da368f-fdc3-40ff-b8b3-2376b894beff" xmlns:ns4="bcda3a80-ef81-4a74-be8c-45f19ea20168" targetNamespace="http://schemas.microsoft.com/office/2006/metadata/properties" ma:root="true" ma:fieldsID="a443d3b006b7f037dd33dd6bbb0660e6" ns3:_="" ns4:_="">
    <xsd:import namespace="e8da368f-fdc3-40ff-b8b3-2376b894beff"/>
    <xsd:import namespace="bcda3a80-ef81-4a74-be8c-45f19ea20168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DateTaken" minOccurs="0"/>
                <xsd:element ref="ns4:MediaServiceAutoTags" minOccurs="0"/>
                <xsd:element ref="ns4:MediaServiceGenerationTime" minOccurs="0"/>
                <xsd:element ref="ns4:MediaServiceEventHashCode" minOccurs="0"/>
                <xsd:element ref="ns4:MediaServiceOCR" minOccurs="0"/>
                <xsd:element ref="ns4:MediaServiceLocation" minOccurs="0"/>
                <xsd:element ref="ns4:MediaLengthInSeconds" minOccurs="0"/>
                <xsd:element ref="ns4:_activity" minOccurs="0"/>
                <xsd:element ref="ns4:MediaServiceObjectDetectorVersions" minOccurs="0"/>
                <xsd:element ref="ns4:MediaServiceSystemTag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8da368f-fdc3-40ff-b8b3-2376b894bef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hes de 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Hash de Sugestão de Partilha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da3a80-ef81-4a74-be8c-45f19ea2016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20" nillable="true" ma:displayName="_activity" ma:hidden="true" ma:internalName="_activity">
      <xsd:simpleType>
        <xsd:restriction base="dms:Note"/>
      </xsd:simpleType>
    </xsd:element>
    <xsd:element name="MediaServiceObjectDetectorVersions" ma:index="2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cda3a80-ef81-4a74-be8c-45f19ea20168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9F19CD0-1AD0-4138-8386-64E1C2F80C2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8da368f-fdc3-40ff-b8b3-2376b894beff"/>
    <ds:schemaRef ds:uri="bcda3a80-ef81-4a74-be8c-45f19ea2016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42E2FFA-0E3D-4FA1-9DA8-9AADA78A485D}">
  <ds:schemaRefs>
    <ds:schemaRef ds:uri="http://www.w3.org/XML/1998/namespace"/>
    <ds:schemaRef ds:uri="http://schemas.microsoft.com/office/2006/metadata/properties"/>
    <ds:schemaRef ds:uri="http://purl.org/dc/elements/1.1/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e8da368f-fdc3-40ff-b8b3-2376b894beff"/>
    <ds:schemaRef ds:uri="http://schemas.microsoft.com/office/infopath/2007/PartnerControls"/>
    <ds:schemaRef ds:uri="bcda3a80-ef81-4a74-be8c-45f19ea20168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096705D3-AFC6-4376-BEBF-E451EBA23A9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</TotalTime>
  <Words>622</Words>
  <Application>Microsoft Office PowerPoint</Application>
  <PresentationFormat>Widescreen</PresentationFormat>
  <Paragraphs>71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Calibri</vt:lpstr>
      <vt:lpstr>ScalaSansPro-Ita</vt:lpstr>
      <vt:lpstr>ScalaSansPro-Light</vt:lpstr>
      <vt:lpstr>Office Theme</vt:lpstr>
      <vt:lpstr> Avaliação crítica de uma análise de dados 26/10/2026 | Relatorio 5</vt:lpstr>
      <vt:lpstr>Questão</vt:lpstr>
      <vt:lpstr>Avaliação do R5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240123 FEP Mestrado Executivo PPT</dc:title>
  <dc:creator>Ana Vieira</dc:creator>
  <cp:lastModifiedBy>Marco Luz Martins</cp:lastModifiedBy>
  <cp:revision>16</cp:revision>
  <dcterms:created xsi:type="dcterms:W3CDTF">2024-01-23T11:09:11Z</dcterms:created>
  <dcterms:modified xsi:type="dcterms:W3CDTF">2026-10-24T18:56:42Z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2024-01-23T00:00:00Z</vt:filetime>
  </property>
  <property fmtid="{D5CDD505-2E9C-101B-9397-08002B2CF9AE}" pid="3" name="Creator">
    <vt:lpwstr>Adobe Illustrator 28.1 (Windows)</vt:lpwstr>
  </property>
  <property fmtid="{D5CDD505-2E9C-101B-9397-08002B2CF9AE}" pid="4" name="GTS_PDFXVersion">
    <vt:lpwstr>PDF/X-4</vt:lpwstr>
  </property>
  <property fmtid="{D5CDD505-2E9C-101B-9397-08002B2CF9AE}" pid="5" name="LastSaved">
    <vt:filetime>2024-01-23T00:00:00Z</vt:filetime>
  </property>
  <property fmtid="{D5CDD505-2E9C-101B-9397-08002B2CF9AE}" pid="6" name="Producer">
    <vt:lpwstr>Adobe PDF library 17.00</vt:lpwstr>
  </property>
  <property fmtid="{D5CDD505-2E9C-101B-9397-08002B2CF9AE}" pid="7" name="ContentTypeId">
    <vt:lpwstr>0x010100317E3BD292D1074E9071E5E9BD49264C</vt:lpwstr>
  </property>
</Properties>
</file>