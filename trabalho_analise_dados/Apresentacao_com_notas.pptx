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9" r:id="rId6"/>
    <p:sldId id="257" r:id="rId7"/>
    <p:sldId id="260" r:id="rId8"/>
    <p:sldId id="263" r:id="rId9"/>
    <p:sldId id="262" r:id="rId10"/>
    <p:sldId id="261" r:id="rId11"/>
    <p:sldId id="264" r:id="rId12"/>
    <p:sldId id="265" r:id="rId13"/>
    <p:sldId id="266" r:id="rId14"/>
    <p:sldId id="258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74" autoAdjust="0"/>
    <p:restoredTop sz="94658" autoAdjust="0"/>
  </p:normalViewPr>
  <p:slideViewPr>
    <p:cSldViewPr>
      <p:cViewPr varScale="1">
        <p:scale>
          <a:sx n="66" d="100"/>
          <a:sy n="66" d="100"/>
        </p:scale>
        <p:origin x="66" y="9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115" d="100"/>
          <a:sy n="115" d="100"/>
        </p:scale>
        <p:origin x="130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 Duarte" userId="1b8f0bf2-7da3-4d42-9b13-5bebf928d8a1" providerId="ADAL" clId="{9CF0B78A-3480-4090-8B4F-8F1EDF44DB83}"/>
    <pc:docChg chg="modSld">
      <pc:chgData name="Ana Duarte" userId="1b8f0bf2-7da3-4d42-9b13-5bebf928d8a1" providerId="ADAL" clId="{9CF0B78A-3480-4090-8B4F-8F1EDF44DB83}" dt="2024-06-06T13:02:32.062" v="1" actId="14100"/>
      <pc:docMkLst>
        <pc:docMk/>
      </pc:docMkLst>
      <pc:sldChg chg="modSp">
        <pc:chgData name="Ana Duarte" userId="1b8f0bf2-7da3-4d42-9b13-5bebf928d8a1" providerId="ADAL" clId="{9CF0B78A-3480-4090-8B4F-8F1EDF44DB83}" dt="2024-06-06T13:02:32.062" v="1" actId="14100"/>
        <pc:sldMkLst>
          <pc:docMk/>
          <pc:sldMk cId="0" sldId="258"/>
        </pc:sldMkLst>
        <pc:spChg chg="mod">
          <ac:chgData name="Ana Duarte" userId="1b8f0bf2-7da3-4d42-9b13-5bebf928d8a1" providerId="ADAL" clId="{9CF0B78A-3480-4090-8B4F-8F1EDF44DB83}" dt="2024-06-06T13:02:32.062" v="1" actId="14100"/>
          <ac:spMkLst>
            <pc:docMk/>
            <pc:sldMk cId="0" sldId="258"/>
            <ac:spMk id="2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>
            <a:extLst>
              <a:ext uri="{FF2B5EF4-FFF2-40B4-BE49-F238E27FC236}">
                <a16:creationId xmlns:a16="http://schemas.microsoft.com/office/drawing/2014/main" id="{4A7D07B4-7A0E-5096-BA3A-BE1FC68BB7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9EA732F8-3118-EE51-BDEE-45DE791B35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2878BC-BF87-4E64-BDED-55A5F7E34779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F53625E0-2773-B125-75EF-9E07DEE9C6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8115D31-C1F9-964E-10B0-7BD9D8F8A5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9AFCD-B41C-4731-AB76-B42820B987D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360293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2049CE-A2EF-4075-BBBA-6EC8B274D86F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C4A6D-074B-4CF3-AFCB-0E69CF5C9C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126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9BDF7-414D-841A-7DAA-B87C3D4E2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B3ADB3CC-8ED2-2CC0-1456-D51AF005B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1F26FDB-3C9C-7169-B80C-41CBB928F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[0:15–1:00] A empresa quer três coisas: conhecer o perfil dos clientes, identificar segmentos distintos e dispor de um sistema para classificar novos clientes. Antes de usar os resultados do analista, pediu uma avaliação independente. A questão central é esta: os resultados e as conclusões do R5 constituem uma base adequada para apoiar a segmentação dos clientes e a classificação de novos clientes? Adianto já a resposta: não, por ora. O R5 é um bom ponto de partida, mas só serve como hipótese de trabalho a validar.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C6E277D-8569-478E-B40F-B0E28547F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807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[1:00–1:50] Avaliei o R5 segundo os três critérios do enunciado. A adequação metodológica e a qualidade da análise têm apreciação parcial: as escolhas são razoáveis e os cálculos de base coerentes, mas há um erro conceptual, uma figura inconsistente e interpretações mais fortes do que a evidência. A validade das conclusões é insuficiente: das quatro que sustentam a decisão, só uma é suportada, e falta a classificação de novos clientes. Não reproduzi a análise: recalculei os números publicados, e as verificações estão no anexo.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754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Bom dia. Chamo-me Marco Martins e vou apresentar a avaliação crítica do relatório R5, de análise e segmentação de clientes, que fiz como consultor independente.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[1:50–3:15] Na adequação metodológica, quatro pontos. Primeiro, o analista eliminou 20 clientes com valores em falta. É aceitável, mas só é inofensivo se a falta for aleatória, e isso não foi testado. Pelas taxas de abandono por cluster deduz-se que nesses 20 há 6 abandonos, 30%, contra 15,7% nos restantes; com p de 0,12 não é conclusivo, mas é um alerta. Segundo, ordinais e contagens foram tratadas como contínuas. Terceiro, o erro mais claro: o relatório diz que padronizar protege o K-means dos valores extremos. Não protege. O z-score é linear, como passar de metros para centímetros: os extremos continuam a 3,7 desvios-padrão e o K-means continua sensível a eles. Quarto, quatro variáveis de valor correlacionadas, com r até 0,84, pesam mais na distância, e não há inicializações nem semente, pelo que a análise não é reprodutível.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[3:15–4:10] A silhueta é máxima com k igual a 2, 0,353, e o analista escolheu k igual a 3, 0,325, por ser mais interpretável. É legítimo e foi transparente, mas usou um só índice, sem estabilidade, e todas as silhuetas ficam entre 0,21 e 0,35, estrutura fraca. Com k igual a 4 o valor é quase igual, e a figura do relatório sugere quatro nuvens. Por isso, dizer que os segmentos são distintos é demasiado forte.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[4:10–5:20] Na qualidade da análise, encontrei erros verificáveis. O V de Cramér da Região está errado: a raiz de 1,364 sobre 300 dá 0,067 e não 0,039. Os valores próprios somam 9,033 em vez de 9. As loadings são, na verdade, vetores próprios. E o cluster 3 é descrito como mais velho, mas tem 47,9 anos, como o cluster 1. O mais grave está na figura: o cluster 3, a verde, está no lado direito da primeira componente, com rendimento e despesa elevados, mas a Tabela 10 atribui esse perfil ao cluster 1. As proporções de pontos, 22, 48 e 30 por cento, indicam que as legendas dos clusters 1 e 3 estão trocadas, na figura ou na tabela. Quem lesse a figura podia dirigir a retenção ao segmento 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[5:20–6:15] Há interpretações que vão além da evidência. O valor do cliente é inferido do rendimento e da despesa, que não medem o valor para a empresa. Os clusters são descritos com as variáveis que os formaram, por isso as diferenças são grandes por construção. E o método de pagamento, com p de 0,065, não é significativo, mas é apresentado como fator relevante, enquanto a fidelização e o perfil, com p de 0,088 e 0,090, são ignorados. É uma hipótese a testar, não uma conclusão.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[6:15–7:25] Na validade das conclusões, analisei as quatro que sustentam a decisão. Três segmentos distintos: parcialmente suportada. A única suportada é que o cluster 3 tem maior abandono, 23% contra 8,1% e 9,6%, com p de 0,0055, que confirmei. Mas é associação, não previsão: 77% do cluster 3 não abandonou, não há AUC, os intervalos de confiança sobrepõem-se um pouco, como se vê no gráfico, e não se sabe quando foram medidas as variáveis. Por isso, demonstra devia ser sugere. As outras duas, diferenças entre clusters em variáveis categóricas e método de pagamento como fator de retenção, não têm suporte.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[7:25–8:15] Quanto ao problema da empresa: o perfil dos clientes, em grande parte, com reservas; os segmentos distintos, só parcialmente; e classificar novos clientes, não. Não há centróides nem parâmetros de padronização, classificador ou validação, e a eliminação de casos não se aplica a clientes novos. Além disso, as variáveis usadas, como antiguidade ou visitas, acumulam-se com o tempo e não existem à entrada: um cliente recém-chegado tenderia a parecer-se com o cluster 2 só por ser recente, o que é uma inferência minha, não um cálculo.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[8:15–8:50] Recomendo quatro coisas à administração. Não adotar o R5 como regra operacional, usando-o como hipótese de trabalho. Exigir as correções e análises de robustez. Encomendar um modelo para classificar novos clientes, testado em dados não usados na sua construção. E testar a retenção do cluster 3 num piloto com grupo de controlo. Em conclusão, o R5 descreve bem os clientes e mostra uma associação com o abandono, mas, na forma atual, não é uma base adequada para decidir: precisa de correções, robustez e de um modelo preditivo.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[8:50–9:00] Muito obrigado. Fico disponível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hyperlink" Target="mailto:FORMACAO.EXECUTIVA@FEP.UP.PT" TargetMode="External"/><Relationship Id="rId5" Type="http://schemas.openxmlformats.org/officeDocument/2006/relationships/hyperlink" Target="http://WWW.FEP.UP.PT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72200"/>
            <a:ext cx="12192000" cy="685800"/>
          </a:xfrm>
          <a:custGeom>
            <a:avLst/>
            <a:gdLst/>
            <a:ahLst/>
            <a:cxnLst/>
            <a:rect l="l" t="t" r="r" b="b"/>
            <a:pathLst>
              <a:path w="8915400" h="685800">
                <a:moveTo>
                  <a:pt x="8915400" y="0"/>
                </a:moveTo>
                <a:lnTo>
                  <a:pt x="0" y="0"/>
                </a:lnTo>
                <a:lnTo>
                  <a:pt x="0" y="685800"/>
                </a:lnTo>
                <a:lnTo>
                  <a:pt x="8915400" y="6858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395FB41-EAF7-2707-2532-0FDEF517D0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244001"/>
            <a:ext cx="2514600" cy="55936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0B52C02E-427D-17E2-8E32-C5A34EB7365D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BD951E64-7980-F1E5-598F-DDA6502AEF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21974"/>
            <a:ext cx="4572000" cy="1017018"/>
          </a:xfrm>
          <a:prstGeom prst="rect">
            <a:avLst/>
          </a:prstGeom>
        </p:spPr>
      </p:pic>
      <p:pic>
        <p:nvPicPr>
          <p:cNvPr id="9" name="Picture 8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26F8460F-9A15-D977-7496-BF53EB6676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2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>
            <a:extLst>
              <a:ext uri="{FF2B5EF4-FFF2-40B4-BE49-F238E27FC236}">
                <a16:creationId xmlns:a16="http://schemas.microsoft.com/office/drawing/2014/main" id="{B0F293B3-7F46-1BBF-03CA-849600249C7B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3" name="Picture 2" descr="A black and red text&#10;&#10;AI-generated content may be incorrect.">
            <a:extLst>
              <a:ext uri="{FF2B5EF4-FFF2-40B4-BE49-F238E27FC236}">
                <a16:creationId xmlns:a16="http://schemas.microsoft.com/office/drawing/2014/main" id="{214F7358-033A-0B11-55CA-9D74505138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88073"/>
            <a:ext cx="4876800" cy="1084820"/>
          </a:xfrm>
          <a:prstGeom prst="rect">
            <a:avLst/>
          </a:prstGeom>
        </p:spPr>
      </p:pic>
      <p:pic>
        <p:nvPicPr>
          <p:cNvPr id="12" name="Picture 11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6DF515CD-C903-78B1-2AF2-0E712EED95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  <p:sp>
        <p:nvSpPr>
          <p:cNvPr id="13" name="object 2">
            <a:extLst>
              <a:ext uri="{FF2B5EF4-FFF2-40B4-BE49-F238E27FC236}">
                <a16:creationId xmlns:a16="http://schemas.microsoft.com/office/drawing/2014/main" id="{04603041-A29E-F475-E901-043A85A1B016}"/>
              </a:ext>
            </a:extLst>
          </p:cNvPr>
          <p:cNvSpPr txBox="1"/>
          <p:nvPr userDrawn="1"/>
        </p:nvSpPr>
        <p:spPr>
          <a:xfrm>
            <a:off x="668790" y="6126683"/>
            <a:ext cx="550341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RUA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DR.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ROBERTO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FRIAS</a:t>
            </a:r>
            <a:r>
              <a:rPr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4200-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464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PORTO</a:t>
            </a:r>
            <a:r>
              <a:rPr sz="1200" b="0" spc="26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lang="en-PT"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PORTUGAL</a:t>
            </a:r>
            <a:endParaRPr sz="1200" dirty="0">
              <a:latin typeface="ScalaSansPro-Light"/>
              <a:cs typeface="ScalaSansPro-Light"/>
            </a:endParaRPr>
          </a:p>
          <a:p>
            <a:pPr marL="38100">
              <a:lnSpc>
                <a:spcPct val="100000"/>
              </a:lnSpc>
            </a:pPr>
            <a:r>
              <a:rPr sz="1200" spc="-50" dirty="0">
                <a:solidFill>
                  <a:srgbClr val="DC4647"/>
                </a:solidFill>
                <a:latin typeface="ScalaSansPro-Ita"/>
                <a:cs typeface="ScalaSansPro-Ita"/>
              </a:rPr>
              <a:t>T.</a:t>
            </a:r>
            <a:r>
              <a:rPr sz="1200" spc="-15" dirty="0">
                <a:solidFill>
                  <a:srgbClr val="DC4647"/>
                </a:solidFill>
                <a:latin typeface="ScalaSansPro-Ita"/>
                <a:cs typeface="ScalaSansPro-Ita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+351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225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571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100</a:t>
            </a:r>
            <a:r>
              <a:rPr sz="1200" b="0" spc="27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lang="pt-PT"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4"/>
              </a:rPr>
              <a:t>FORMACAO.EXECUTIVA@FEP.UP.PT</a:t>
            </a:r>
            <a:r>
              <a:rPr lang="pt-PT"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5"/>
              </a:rPr>
              <a:t>WWW.FEP.UP.PT</a:t>
            </a:r>
            <a:endParaRPr sz="1200" dirty="0">
              <a:latin typeface="ScalaSansPro-Light"/>
              <a:cs typeface="ScalaSansPro-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296" userDrawn="1">
          <p15:clr>
            <a:srgbClr val="FBAE40"/>
          </p15:clr>
        </p15:guide>
        <p15:guide id="4" pos="432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3093" y="2325179"/>
            <a:ext cx="4309110" cy="827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2362200"/>
            <a:ext cx="7404107" cy="8059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pt-BR" b="0" dirty="0"/>
              <a:t> </a:t>
            </a:r>
            <a:r>
              <a:rPr lang="pt-BR" dirty="0"/>
              <a:t>Avaliação crítica de uma análise de dados </a:t>
            </a:r>
            <a:r>
              <a:rPr lang="en-GB" sz="2000" b="0" spc="-100" dirty="0">
                <a:latin typeface="Calibri"/>
                <a:cs typeface="Calibri"/>
              </a:rPr>
              <a:t>26/10/2026</a:t>
            </a:r>
            <a:r>
              <a:rPr sz="2000" b="0" dirty="0">
                <a:latin typeface="Calibri"/>
                <a:cs typeface="Calibri"/>
              </a:rPr>
              <a:t> |</a:t>
            </a:r>
            <a:r>
              <a:rPr lang="en-GB" sz="2000" b="0" dirty="0">
                <a:latin typeface="Calibri"/>
                <a:cs typeface="Calibri"/>
              </a:rPr>
              <a:t> </a:t>
            </a:r>
            <a:r>
              <a:rPr lang="en-GB" sz="2000" b="0" dirty="0" err="1">
                <a:latin typeface="Calibri"/>
                <a:cs typeface="Calibri"/>
              </a:rPr>
              <a:t>Relatorio</a:t>
            </a:r>
            <a:r>
              <a:rPr lang="en-GB" sz="2000" b="0" dirty="0">
                <a:latin typeface="Calibri"/>
                <a:cs typeface="Calibri"/>
              </a:rPr>
              <a:t> 5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FAB14-2CBD-0AB7-B5E7-0BA789B1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9EABEAC-EA1E-6B34-50FA-EF2B6FFC77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Questão</a:t>
            </a:r>
            <a:endParaRPr lang="en-GB" sz="3200" dirty="0">
              <a:solidFill>
                <a:srgbClr val="E8334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D90C1C-8C9C-5C54-2386-1CCA0F15ED64}"/>
              </a:ext>
            </a:extLst>
          </p:cNvPr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92377-8B1F-47B0-45FC-FEF7E14B6C0B}"/>
              </a:ext>
            </a:extLst>
          </p:cNvPr>
          <p:cNvSpPr txBox="1"/>
          <p:nvPr/>
        </p:nvSpPr>
        <p:spPr>
          <a:xfrm>
            <a:off x="651322" y="3429000"/>
            <a:ext cx="1083310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b="1" dirty="0">
                <a:solidFill>
                  <a:srgbClr val="FF0000"/>
                </a:solidFill>
                <a:latin typeface="Calibri"/>
              </a:rPr>
              <a:t>Resposta: ainda não. Bom ponto de partida, mas faltam validação, correções e a classificação de novos clientes.</a:t>
            </a:r>
          </a:p>
        </p:txBody>
      </p:sp>
    </p:spTree>
    <p:extLst>
      <p:ext uri="{BB962C8B-B14F-4D97-AF65-F5344CB8AC3E}">
        <p14:creationId xmlns:p14="http://schemas.microsoft.com/office/powerpoint/2010/main" val="175649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Avaliação</a:t>
            </a:r>
            <a:r>
              <a:rPr lang="en-GB" sz="3200" dirty="0">
                <a:solidFill>
                  <a:srgbClr val="E83342"/>
                </a:solidFill>
              </a:rPr>
              <a:t> do R5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F6C1BA84-A568-0F5A-12CB-D174624EB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" y="1874520"/>
            <a:ext cx="11064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CDB8-2288-5A70-F3E4-F0CAC0F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CFD7-B40D-A656-18C6-E262DE472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13766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</a:t>
            </a:r>
            <a:r>
              <a:rPr lang="pt-BR" sz="2400" dirty="0">
                <a:solidFill>
                  <a:srgbClr val="1D1D1F"/>
                </a:solidFill>
              </a:rPr>
              <a:t>Eliminação de 20 clientes (6,7%): só inócua se a falta for aleatória; 6 abandonos nesses 20 (30%) vs 15,7% (Fisher p ≈ 0,12: sinal, não prova)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Ordinais e contagens tratadas como contínuas; Pearson em variáveis assimétricas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Padronização «protege dos extremos»: errado. O z-score é linear; os extremos mantêm-se a 3,7 DP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K-means: 4 variáveis de «valor» correlacionadas (r até 0,84) pesam mais; sem inicializações nem semente</a:t>
            </a:r>
          </a:p>
          <a:p>
            <a:endParaRPr lang="en-GB" dirty="0"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A7623D40-F8D8-5530-7318-92745BD9C568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n-GB" sz="2800" dirty="0" err="1">
                <a:solidFill>
                  <a:srgbClr val="E83342"/>
                </a:solidFill>
              </a:rPr>
              <a:t>Critério</a:t>
            </a:r>
            <a:r>
              <a:rPr lang="en-GB" sz="2800" dirty="0">
                <a:solidFill>
                  <a:srgbClr val="E83342"/>
                </a:solidFill>
              </a:rPr>
              <a:t> A: </a:t>
            </a:r>
            <a:r>
              <a:rPr lang="en-GB" sz="2800" dirty="0" err="1">
                <a:solidFill>
                  <a:srgbClr val="E83342"/>
                </a:solidFill>
              </a:rPr>
              <a:t>adequação</a:t>
            </a:r>
            <a:r>
              <a:rPr lang="en-GB" sz="2800" dirty="0">
                <a:solidFill>
                  <a:srgbClr val="E83342"/>
                </a:solidFill>
              </a:rPr>
              <a:t> </a:t>
            </a:r>
            <a:r>
              <a:rPr lang="en-GB" sz="2800" dirty="0" err="1">
                <a:solidFill>
                  <a:srgbClr val="E83342"/>
                </a:solidFill>
              </a:rPr>
              <a:t>metodológica</a:t>
            </a:r>
            <a:endParaRPr lang="en-GB" sz="2800" dirty="0">
              <a:solidFill>
                <a:srgbClr val="E833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184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E6C0-43AD-91C4-40F4-93FF251FA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ADD50-E53D-02F8-59E1-4756B8DB1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figA_silhueta.png">
            <a:extLst>
              <a:ext uri="{FF2B5EF4-FFF2-40B4-BE49-F238E27FC236}">
                <a16:creationId xmlns:a16="http://schemas.microsoft.com/office/drawing/2014/main" id="{E2A6E8D2-7A81-6C64-AEFD-1AC222B0B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7" y="1237101"/>
            <a:ext cx="5760720" cy="4866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04026-FB3A-917C-FC7F-1D2BFFB774CC}"/>
              </a:ext>
            </a:extLst>
          </p:cNvPr>
          <p:cNvSpPr txBox="1"/>
          <p:nvPr/>
        </p:nvSpPr>
        <p:spPr>
          <a:xfrm>
            <a:off x="6469017" y="1328541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3 contra o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usado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legítimo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, mas com um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índice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Todas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as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silhuetas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entre 0,21 e 0,35: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estrutura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fraca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4 (0,319)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quase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empata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; 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figura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do R5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sugere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quatro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nuvens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Falta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estabilidade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(bootstrap) e outros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critérios</a:t>
            </a:r>
            <a:endParaRPr sz="20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E6D2140-050A-6D52-3A57-A3233026C86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Escolha do número de clusters</a:t>
            </a:r>
          </a:p>
        </p:txBody>
      </p:sp>
    </p:spTree>
    <p:extLst>
      <p:ext uri="{BB962C8B-B14F-4D97-AF65-F5344CB8AC3E}">
        <p14:creationId xmlns:p14="http://schemas.microsoft.com/office/powerpoint/2010/main" val="4145714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EA230-2D57-2A50-6251-44BF3A1E4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AC873-8250-4FF9-3D09-817948F5B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6EF77D-D563-2FED-4914-3D7ADA8DE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287794"/>
              </p:ext>
            </p:extLst>
          </p:nvPr>
        </p:nvGraphicFramePr>
        <p:xfrm>
          <a:off x="457200" y="1531620"/>
          <a:ext cx="5394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Evidência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 de Cramér da Região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√(1,364/300) = 0,067, não 0,039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Valores próprios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Somam 9,033 (devia ser 9); % somam 100,08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«Loadings»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São vetores próprios (norma ≈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Cluster 3 «mais velho»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latin typeface="Calibri"/>
                        </a:rPr>
                        <a:t>47,9 </a:t>
                      </a:r>
                      <a:r>
                        <a:rPr sz="1500" b="0" dirty="0" err="1">
                          <a:latin typeface="Calibri"/>
                        </a:rPr>
                        <a:t>anos</a:t>
                      </a:r>
                      <a:r>
                        <a:rPr sz="1500" b="0" dirty="0">
                          <a:latin typeface="Calibri"/>
                        </a:rPr>
                        <a:t> vs 47,2 no Cluster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fig1_anotada.png">
            <a:extLst>
              <a:ext uri="{FF2B5EF4-FFF2-40B4-BE49-F238E27FC236}">
                <a16:creationId xmlns:a16="http://schemas.microsoft.com/office/drawing/2014/main" id="{43158C43-931E-1A37-0DE1-CD64A5C39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31620"/>
            <a:ext cx="5669280" cy="3697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62882D-75A0-F769-0B86-2E7B0C147C6F}"/>
              </a:ext>
            </a:extLst>
          </p:cNvPr>
          <p:cNvSpPr txBox="1"/>
          <p:nvPr/>
        </p:nvSpPr>
        <p:spPr>
          <a:xfrm>
            <a:off x="457200" y="47320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83342"/>
                </a:solidFill>
                <a:latin typeface="Calibri"/>
              </a:rPr>
              <a:t>Legenda da Figura 1 contradiz a Tabela 10: rótulos dos clusters 1 e 3 trocados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15DA0-361E-91C6-1335-29020BF0F294}"/>
              </a:ext>
            </a:extLst>
          </p:cNvPr>
          <p:cNvSpPr txBox="1"/>
          <p:nvPr/>
        </p:nvSpPr>
        <p:spPr>
          <a:xfrm>
            <a:off x="489857" y="58108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Critério B: erros e inconsistências</a:t>
            </a:r>
          </a:p>
        </p:txBody>
      </p:sp>
    </p:spTree>
    <p:extLst>
      <p:ext uri="{BB962C8B-B14F-4D97-AF65-F5344CB8AC3E}">
        <p14:creationId xmlns:p14="http://schemas.microsoft.com/office/powerpoint/2010/main" val="204494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68554-26C8-8260-27CC-16902EB9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51C56-F2F1-185F-A866-566F84C0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9838F602-9A60-720B-C359-755C76B9F7A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Interpretações que vão além da evidência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902C6-1A0D-3BD9-D3F3-EB7609585B74}"/>
              </a:ext>
            </a:extLst>
          </p:cNvPr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«Valor do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cliente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rendimento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despesa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medem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o valor para a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empresa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uma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inferência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Circularidade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clusters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descritos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com as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variáveis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que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definiram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médias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dispersão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Método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pagamento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p = 0,065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significativo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mas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apresentado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fator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relevante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fidelização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(0,088)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perfil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(0,090)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ignorados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Rótulos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«valor» (CP1) e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modernização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 (CP2):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leituras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com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interpretação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seletiva</a:t>
            </a:r>
            <a:endParaRPr sz="2300" dirty="0">
              <a:solidFill>
                <a:srgbClr val="1D1D1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640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B3-65ED-04B2-C403-CE89CE2B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73F62-572D-C650-5EB7-638F3338F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0104E-5482-6647-ADBB-9734CDCE4F00}"/>
              </a:ext>
            </a:extLst>
          </p:cNvPr>
          <p:cNvSpPr txBox="1"/>
          <p:nvPr/>
        </p:nvSpPr>
        <p:spPr>
          <a:xfrm>
            <a:off x="609600" y="3886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A8DD8D-4F5C-639D-BB55-A8B03466E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30346"/>
              </p:ext>
            </p:extLst>
          </p:nvPr>
        </p:nvGraphicFramePr>
        <p:xfrm>
          <a:off x="609600" y="171450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98D754DB-DD86-EC91-E1AF-B76D36682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160" y="171450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17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C56F1-18B2-9578-433E-2A896E397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12446-AA2E-6CB9-26FC-3CAD35E7D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66509-4022-C148-520D-56C868AE6FFC}"/>
              </a:ext>
            </a:extLst>
          </p:cNvPr>
          <p:cNvSpPr txBox="1"/>
          <p:nvPr/>
        </p:nvSpPr>
        <p:spPr>
          <a:xfrm>
            <a:off x="548640" y="411480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Os resultados respondem ao problema da empresa?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D0356A-0BA8-F1B9-5F44-7C5105BFDD64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7373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800" b="1" dirty="0" err="1">
                          <a:latin typeface="Calibri"/>
                        </a:rPr>
                        <a:t>Objetivo</a:t>
                      </a:r>
                      <a:r>
                        <a:rPr sz="1800" b="1" dirty="0">
                          <a:latin typeface="Calibri"/>
                        </a:rPr>
                        <a:t> da </a:t>
                      </a:r>
                      <a:r>
                        <a:rPr sz="1800" b="1" dirty="0" err="1">
                          <a:latin typeface="Calibri"/>
                        </a:rPr>
                        <a:t>empresa</a:t>
                      </a:r>
                      <a:endParaRPr sz="1800" b="1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dirty="0" err="1">
                          <a:latin typeface="Calibri"/>
                        </a:rPr>
                        <a:t>Cumpre</a:t>
                      </a:r>
                      <a:r>
                        <a:rPr sz="1800" b="1" dirty="0">
                          <a:latin typeface="Calibri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Porquê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Compreender</a:t>
                      </a:r>
                      <a:r>
                        <a:rPr sz="1800" b="0" dirty="0">
                          <a:latin typeface="Calibri"/>
                        </a:rPr>
                        <a:t> o </a:t>
                      </a:r>
                      <a:r>
                        <a:rPr sz="1800" b="0" dirty="0" err="1">
                          <a:latin typeface="Calibri"/>
                        </a:rPr>
                        <a:t>perfil</a:t>
                      </a:r>
                      <a:r>
                        <a:rPr sz="1800" b="0" dirty="0">
                          <a:latin typeface="Calibri"/>
                        </a:rPr>
                        <a:t> dos </a:t>
                      </a:r>
                      <a:r>
                        <a:rPr sz="1800" b="0" dirty="0" err="1">
                          <a:latin typeface="Calibri"/>
                        </a:rPr>
                        <a:t>clientes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Em grande parte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Descrição clara, com reservas (dados em falta, extremos)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Identificar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Não totalmente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Estrutura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fraca</a:t>
                      </a:r>
                      <a:r>
                        <a:rPr sz="1800" b="0" dirty="0">
                          <a:latin typeface="Calibri"/>
                        </a:rPr>
                        <a:t>; k e </a:t>
                      </a:r>
                      <a:r>
                        <a:rPr sz="1800" b="0" dirty="0" err="1">
                          <a:latin typeface="Calibri"/>
                        </a:rPr>
                        <a:t>extremos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por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validar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Sistema para classificar novos clientes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Não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latin typeface="Calibri"/>
                        </a:rPr>
                        <a:t>Sem </a:t>
                      </a:r>
                      <a:r>
                        <a:rPr sz="1800" b="0" dirty="0" err="1">
                          <a:latin typeface="Calibri"/>
                        </a:rPr>
                        <a:t>regra</a:t>
                      </a:r>
                      <a:r>
                        <a:rPr sz="1800" b="0" dirty="0">
                          <a:latin typeface="Calibri"/>
                        </a:rPr>
                        <a:t> de </a:t>
                      </a:r>
                      <a:r>
                        <a:rPr sz="1800" b="0" dirty="0" err="1">
                          <a:latin typeface="Calibri"/>
                        </a:rPr>
                        <a:t>atribuição</a:t>
                      </a:r>
                      <a:r>
                        <a:rPr sz="1800" b="0" dirty="0">
                          <a:latin typeface="Calibri"/>
                        </a:rPr>
                        <a:t>, </a:t>
                      </a:r>
                      <a:r>
                        <a:rPr sz="1800" b="0" dirty="0" err="1">
                          <a:latin typeface="Calibri"/>
                        </a:rPr>
                        <a:t>classificador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ou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validação</a:t>
                      </a:r>
                      <a:r>
                        <a:rPr sz="1800" b="0" dirty="0">
                          <a:latin typeface="Calibri"/>
                        </a:rPr>
                        <a:t>; </a:t>
                      </a:r>
                      <a:r>
                        <a:rPr sz="1800" b="0" dirty="0" err="1">
                          <a:latin typeface="Calibri"/>
                        </a:rPr>
                        <a:t>variáveis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não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existem</a:t>
                      </a:r>
                      <a:r>
                        <a:rPr sz="1800" b="0" dirty="0">
                          <a:latin typeface="Calibri"/>
                        </a:rPr>
                        <a:t> à entrada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70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86408-A2AE-BFAF-28F1-9F731A2D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70E7C-AD24-A6EF-690B-7C57D116A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2B0BF-CF44-8F03-4C94-FAB2E51150DE}"/>
              </a:ext>
            </a:extLst>
          </p:cNvPr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adotar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o R5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regra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operacional</a:t>
            </a:r>
            <a:r>
              <a:rPr sz="22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usá</a:t>
            </a:r>
            <a:r>
              <a:rPr sz="2200" dirty="0">
                <a:solidFill>
                  <a:srgbClr val="1D1D1F"/>
                </a:solidFill>
                <a:latin typeface="Calibri"/>
              </a:rPr>
              <a:t>-lo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hipótese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trabalho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Exigir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correções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(Fig. 1, outliers, V da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Região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valores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próprios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) 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análises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robustez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Encomendar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modelo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para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novos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clientes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validado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em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dados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usados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Testar 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retenção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do Cluster 3 num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piloto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com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grupo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controlo</a:t>
            </a:r>
            <a:endParaRPr sz="22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8FED2A-9ECB-BBE3-5BB8-DE064A6A2788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E83342"/>
                </a:solidFill>
                <a:latin typeface="Calibri"/>
              </a:rPr>
              <a:t>Recomendações e </a:t>
            </a:r>
            <a:r>
              <a:rPr sz="3200" b="1" dirty="0" err="1">
                <a:solidFill>
                  <a:srgbClr val="E83342"/>
                </a:solidFill>
                <a:latin typeface="Calibri"/>
              </a:rPr>
              <a:t>conclusão</a:t>
            </a:r>
            <a:endParaRPr sz="3200" b="1" dirty="0">
              <a:solidFill>
                <a:srgbClr val="E83342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EF060C-1CA7-7CE1-895E-BAF391FA1CE1}"/>
              </a:ext>
            </a:extLst>
          </p:cNvPr>
          <p:cNvSpPr txBox="1"/>
          <p:nvPr/>
        </p:nvSpPr>
        <p:spPr>
          <a:xfrm>
            <a:off x="1783080" y="4382405"/>
            <a:ext cx="8686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b="1" dirty="0">
                <a:solidFill>
                  <a:srgbClr val="E83342"/>
                </a:solidFill>
                <a:latin typeface="Calibri"/>
              </a:rPr>
              <a:t>Conclusão: bom ponto de partida, mas ainda não uma base adequada. Precisa de correções, robustez e de um modelo preditivo.</a:t>
            </a:r>
          </a:p>
        </p:txBody>
      </p:sp>
    </p:spTree>
    <p:extLst>
      <p:ext uri="{BB962C8B-B14F-4D97-AF65-F5344CB8AC3E}">
        <p14:creationId xmlns:p14="http://schemas.microsoft.com/office/powerpoint/2010/main" val="3541631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6C161D-85A1-617D-F80D-86E5470894E5}"/>
              </a:ext>
            </a:extLst>
          </p:cNvPr>
          <p:cNvSpPr txBox="1"/>
          <p:nvPr/>
        </p:nvSpPr>
        <p:spPr>
          <a:xfrm>
            <a:off x="9296400" y="6019800"/>
            <a:ext cx="266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GB" sz="1200" b="0" i="0" u="none" strike="noStrike" baseline="0" dirty="0">
              <a:solidFill>
                <a:srgbClr val="000000"/>
              </a:solidFill>
            </a:endParaRPr>
          </a:p>
          <a:p>
            <a:r>
              <a:rPr lang="en-GB" sz="1200" b="0" i="0" u="none" strike="noStrike" baseline="0" dirty="0">
                <a:solidFill>
                  <a:srgbClr val="000000"/>
                </a:solidFill>
              </a:rPr>
              <a:t> Marco Filipe Luz Martins </a:t>
            </a:r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F2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17E3BD292D1074E9071E5E9BD49264C" ma:contentTypeVersion="16" ma:contentTypeDescription="Criar um novo documento." ma:contentTypeScope="" ma:versionID="ee4de5e85160ea76f51476abcb83f699">
  <xsd:schema xmlns:xsd="http://www.w3.org/2001/XMLSchema" xmlns:xs="http://www.w3.org/2001/XMLSchema" xmlns:p="http://schemas.microsoft.com/office/2006/metadata/properties" xmlns:ns3="e8da368f-fdc3-40ff-b8b3-2376b894beff" xmlns:ns4="bcda3a80-ef81-4a74-be8c-45f19ea20168" targetNamespace="http://schemas.microsoft.com/office/2006/metadata/properties" ma:root="true" ma:fieldsID="a443d3b006b7f037dd33dd6bbb0660e6" ns3:_="" ns4:_="">
    <xsd:import namespace="e8da368f-fdc3-40ff-b8b3-2376b894beff"/>
    <xsd:import namespace="bcda3a80-ef81-4a74-be8c-45f19ea20168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Locatio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a368f-fdc3-40ff-b8b3-2376b894be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da3a80-ef81-4a74-be8c-45f19ea20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cda3a80-ef81-4a74-be8c-45f19ea2016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F19CD0-1AD0-4138-8386-64E1C2F8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a368f-fdc3-40ff-b8b3-2376b894beff"/>
    <ds:schemaRef ds:uri="bcda3a80-ef81-4a74-be8c-45f19ea20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2E2FFA-0E3D-4FA1-9DA8-9AADA78A485D}">
  <ds:schemaRefs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e8da368f-fdc3-40ff-b8b3-2376b894beff"/>
    <ds:schemaRef ds:uri="http://schemas.microsoft.com/office/infopath/2007/PartnerControls"/>
    <ds:schemaRef ds:uri="bcda3a80-ef81-4a74-be8c-45f19ea2016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96705D3-AFC6-4376-BEBF-E451EBA23A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622</Words>
  <Application>Microsoft Office PowerPoint</Application>
  <PresentationFormat>Widescreen</PresentationFormat>
  <Paragraphs>71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ScalaSansPro-Ita</vt:lpstr>
      <vt:lpstr>ScalaSansPro-Light</vt:lpstr>
      <vt:lpstr>Office Theme</vt:lpstr>
      <vt:lpstr> Avaliação crítica de uma análise de dados 26/10/2026 | Relatorio 5</vt:lpstr>
      <vt:lpstr>Questão</vt:lpstr>
      <vt:lpstr>Avaliação do R5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240123 FEP Mestrado Executivo PPT</dc:title>
  <dc:creator>Ana Vieira</dc:creator>
  <cp:lastModifiedBy>Marco Luz Martins</cp:lastModifiedBy>
  <cp:revision>16</cp:revision>
  <dcterms:created xsi:type="dcterms:W3CDTF">2024-01-23T11:09:11Z</dcterms:created>
  <dcterms:modified xsi:type="dcterms:W3CDTF">2026-10-24T18:56:42Z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2024-01-23T00:00:00Z</vt:filetime>
  </property>
  <property fmtid="{D5CDD505-2E9C-101B-9397-08002B2CF9AE}" pid="3" name="Creator">
    <vt:lpwstr>Adobe Illustrator 28.1 (Windows)</vt:lpwstr>
  </property>
  <property fmtid="{D5CDD505-2E9C-101B-9397-08002B2CF9AE}" pid="4" name="GTS_PDFXVersion">
    <vt:lpwstr>PDF/X-4</vt:lpwstr>
  </property>
  <property fmtid="{D5CDD505-2E9C-101B-9397-08002B2CF9AE}" pid="5" name="LastSaved">
    <vt:filetime>2024-01-23T00:00:00Z</vt:filetime>
  </property>
  <property fmtid="{D5CDD505-2E9C-101B-9397-08002B2CF9AE}" pid="6" name="Producer">
    <vt:lpwstr>Adobe PDF library 17.00</vt:lpwstr>
  </property>
  <property fmtid="{D5CDD505-2E9C-101B-9397-08002B2CF9AE}" pid="7" name="ContentTypeId">
    <vt:lpwstr>0x010100317E3BD292D1074E9071E5E9BD49264C</vt:lpwstr>
  </property>
</Properties>
</file>